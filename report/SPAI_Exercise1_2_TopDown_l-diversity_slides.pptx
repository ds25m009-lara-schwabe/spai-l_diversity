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intro: who we are, we did task 1.2 with Top-Down Greedy.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from the Italia dataset, plain TDG with k = 2. The table is 2-anonymous, but if I know my neighbour is 45 and from Veneto, I know she has heart disease. On Adult the same happens with occupation, and it does not completely go away with larger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recap of how TDG works, because our change is inside the split step. Important: the split only looks at QI distance (NCP), the sensitive attribute is ignored completely.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main contribution. A split is only kept if both halves are k-anonymous AND l-diverse. If one half fails, we do not throw the split away directly but take records from the other half that bring in the missing occupations. Without l (l = 0) the original code path is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removed occupation from the QIs for both methods, otherwise the comparison would not be fair. Three experiments: vary l, vary k, and an ablation without the repair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homogeneous ECs, middle: ECs with fewer than 3 occupations. The original TDG only becomes 3-diverse at k = 50, with NCP 0.25. Our method is 3-diverse at every k, with NCP 0.092 at k =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Dotted line is original TDG. Up to l = 5 the extra loss is very small, because occupation is quite balanced. Entropy is stricter: entropy l = 6 gives NCP 0.27. Runtime was in the same range for both, but our laptop measurements were too noisy for a real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was the most interesting part for us. If you just reject a split that is not l-diverse, the recursion stops very early near the root, because TDG ignores the SA. The NCP is about 5 times higher.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line is the original data, dotted line the original TDG. All differences are around 0.01, which is noise level. Occupation is not a feature, the repair only touches a few records per 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message: l-diversity on top of TDG is cheap if you repair splits. Limitations are honest: one dataset, greedy repair, distinct l-diversity does not stop similarity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54864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</a:rPr>
              <a:t>l-Diversity for Top-Down Greedy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6DFEA"/>
                </a:solidFill>
              </a:rPr>
              <a:t>Extending the k-anonymity toolbox so that equivalence classes also hide the sensitive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</a:rPr>
              <a:t>Lara Schwabe, Livia Zylja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</a:rPr>
              <a:t>SPAI 2026, Exercise 1.2 (Anonymisation)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</a:rPr>
              <a:t>k-anonymity alone still leaks the disease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645920" cy="0"/>
          </a:xfrm>
          <a:prstGeom prst="line">
            <a:avLst/>
          </a:prstGeom>
          <a:ln w="3810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Schwabe, Zylja  |  SPAI 2026, Exercise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Italia, original TDG, k = 2 (excerpt)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6035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822960"/>
                <a:gridCol w="329184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age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zip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disease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40~50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Veneto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*****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Heart disease, Heart disease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50~100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Piemonte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*****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AIDS, AIDS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30~40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Italy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*****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Anorexia, Anorexia</a:t>
                      </a:r>
                    </a:p>
                  </a:txBody>
                  <a:tcPr>
                    <a:solidFill>
                      <a:srgbClr val="FBE3D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10~20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Italy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*****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95959"/>
                          </a:solidFill>
                        </a:rPr>
                        <a:t>Cancer, Autism, Heart d., Anorexia, 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886200"/>
            <a:ext cx="6035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Orange rows: everyone in the class has the same disease (homogeneity attack).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3258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Adult, SA = occupation, original TDG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783080"/>
            <a:ext cx="448056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892807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7A1F"/>
                </a:solidFill>
              </a:rPr>
              <a:t>1,046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892807"/>
            <a:ext cx="24688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</a:rPr>
              <a:t>ECs with only one occupation at k = 2 (2,404 people)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154680"/>
            <a:ext cx="448056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264408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7A1F"/>
                </a:solidFill>
              </a:rPr>
              <a:t>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264408"/>
            <a:ext cx="24688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</a:rPr>
              <a:t>ECs with fewer than 3 occupations at k =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526280"/>
            <a:ext cx="448056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4636008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7A1F"/>
                </a:solidFill>
              </a:rPr>
              <a:t>k = 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636008"/>
            <a:ext cx="24688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</a:rPr>
              <a:t>needed until every EC has 3 occupations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</a:rPr>
              <a:t>Top-Down Greedy (as in the toolbox)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645920" cy="0"/>
          </a:xfrm>
          <a:prstGeom prst="line">
            <a:avLst/>
          </a:prstGeom>
          <a:ln w="3810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Schwabe, Zylja  |  SPAI 2026, Exercise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595959"/>
                </a:solidFill>
              </a:rPr>
              <a:t>•  Start with the whole table as one partition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595959"/>
                </a:solidFill>
              </a:rPr>
              <a:t>•  Pick two records u, v that are far apart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95959"/>
                </a:solidFill>
              </a:rPr>
              <a:t>–  distance = NCP of their common generalisation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95959"/>
                </a:solidFill>
              </a:rPr>
              <a:t>–  3-round heuristic instead of all pairs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595959"/>
                </a:solidFill>
              </a:rPr>
              <a:t>•  Every record goes to the closer seed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595959"/>
                </a:solidFill>
              </a:rPr>
              <a:t>•  Side with &lt; k records: move nearest records or merge again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595959"/>
                </a:solidFill>
              </a:rPr>
              <a:t>•  Recurse until partitions have &lt; 2k records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595959"/>
                </a:solidFill>
              </a:rPr>
              <a:t>•  Generalise each partition (LCA in the hierarchy)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1463040"/>
            <a:ext cx="2926080" cy="914400"/>
          </a:xfrm>
          <a:prstGeom prst="rect">
            <a:avLst/>
          </a:prstGeom>
          <a:solidFill>
            <a:srgbClr val="EEF2F6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A5F"/>
                </a:solidFill>
              </a:rPr>
              <a:t>partition P</a:t>
            </a:r>
          </a:p>
          <a:p>
            <a:pPr algn="ctr"/>
            <a:r>
              <a:rPr sz="1500" b="0">
                <a:solidFill>
                  <a:srgbClr val="1F3A5F"/>
                </a:solidFill>
              </a:rPr>
              <a:t>|P| &gt;= 2k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138160" y="2377440"/>
            <a:ext cx="640080" cy="822960"/>
          </a:xfrm>
          <a:prstGeom prst="line">
            <a:avLst/>
          </a:prstGeom>
          <a:ln w="254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75520" y="2377440"/>
            <a:ext cx="640080" cy="822960"/>
          </a:xfrm>
          <a:prstGeom prst="line">
            <a:avLst/>
          </a:prstGeom>
          <a:ln w="254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858000" y="3200400"/>
            <a:ext cx="23774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595959"/>
                </a:solidFill>
              </a:rPr>
              <a:t>records closer to 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0" y="3200400"/>
            <a:ext cx="23774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595959"/>
                </a:solidFill>
              </a:rPr>
              <a:t>records closer to 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389120"/>
            <a:ext cx="5303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07A1F"/>
                </a:solidFill>
              </a:rPr>
              <a:t>Only the QIs are used for the split.</a:t>
            </a:r>
          </a:p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07A1F"/>
                </a:solidFill>
              </a:rPr>
              <a:t>The sensitive attribute plays no role.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</a:rPr>
              <a:t>Our change: check every split and repair 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645920" cy="0"/>
          </a:xfrm>
          <a:prstGeom prst="line">
            <a:avLst/>
          </a:prstGeom>
          <a:ln w="3810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Schwabe, Zylja  |  SPAI 2026, Exercise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06040" cy="21945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07A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Split as 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seeds u, v, closer seed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82112" y="2514600"/>
            <a:ext cx="219456" cy="0"/>
          </a:xfrm>
          <a:prstGeom prst="line">
            <a:avLst/>
          </a:prstGeom>
          <a:ln w="25400">
            <a:solidFill>
              <a:srgbClr val="E07A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429000" y="1463040"/>
            <a:ext cx="2606040" cy="21945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5544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07A1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574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Check both halves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51460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&gt;= k records and l-diverse?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62472" y="2514600"/>
            <a:ext cx="219456" cy="0"/>
          </a:xfrm>
          <a:prstGeom prst="line">
            <a:avLst/>
          </a:prstGeom>
          <a:ln w="25400">
            <a:solidFill>
              <a:srgbClr val="E07A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09359" y="1463040"/>
            <a:ext cx="2606040" cy="21945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5544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07A1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574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Repair the bad half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1460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move nearest records with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missing SA values over,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other half must stay valid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42832" y="2514600"/>
            <a:ext cx="219456" cy="0"/>
          </a:xfrm>
          <a:prstGeom prst="line">
            <a:avLst/>
          </a:prstGeom>
          <a:ln w="25400">
            <a:solidFill>
              <a:srgbClr val="E07A1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9189719" y="1463040"/>
            <a:ext cx="2606040" cy="21945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5544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07A1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0574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Still invalid or worse NCP?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514600"/>
            <a:ext cx="2377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then keep P as one EC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Supported l-diversity types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38912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595959"/>
                </a:solidFill>
              </a:rPr>
              <a:t>•  distinct: at least l different values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595959"/>
                </a:solidFill>
              </a:rPr>
              <a:t>•  entropy: H(SA) &gt;= log(l)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595959"/>
                </a:solidFill>
              </a:rPr>
              <a:t>•  recursive (c, l): r1 &lt; c (rl + ... + rm)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31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Usage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4389120"/>
            <a:ext cx="5120640" cy="13716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E8E8E8"/>
                </a:solidFill>
                <a:latin typeface="Consolas"/>
              </a:rPr>
              <a:t>python anonymize.py</a:t>
            </a:r>
          </a:p>
          <a:p>
            <a:pPr algn="l"/>
            <a:r>
              <a:rPr sz="1400">
                <a:solidFill>
                  <a:srgbClr val="E8E8E8"/>
                </a:solidFill>
                <a:latin typeface="Consolas"/>
              </a:rPr>
              <a:t>  --method=topdown_ldiv --k=10</a:t>
            </a:r>
          </a:p>
          <a:p>
            <a:pPr algn="l"/>
            <a:r>
              <a:rPr sz="1400">
                <a:solidFill>
                  <a:srgbClr val="E8E8E8"/>
                </a:solidFill>
                <a:latin typeface="Consolas"/>
              </a:rPr>
              <a:t>  --l=3 --ldiv=entropy --dataset=adult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</a:rPr>
              <a:t>Experimental setup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645920" cy="0"/>
          </a:xfrm>
          <a:prstGeom prst="line">
            <a:avLst/>
          </a:prstGeom>
          <a:ln w="3810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Schwabe, Zylja  |  SPAI 2026, Exercise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Adult dataset, 30,162 records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7 QIs: sex, age, race, marital-status, education, native-country, workclass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SA: occupation (14 values, max. 13.4%)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Metrics: NCP, DM, CAVG, #ECs, runtime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Privacy: homogeneous ECs, ECs with &lt; 3 values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KNN, SVM, RF on salary-class (80/20 split, weighted F1)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463040"/>
            <a:ext cx="8229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463040"/>
            <a:ext cx="4023360" cy="1234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595959"/>
                </a:solidFill>
              </a:rPr>
              <a:t>k = 10, vary l</a:t>
            </a:r>
          </a:p>
          <a:p>
            <a:pPr algn="ctr"/>
            <a:r>
              <a:rPr sz="1500" b="0">
                <a:solidFill>
                  <a:srgbClr val="595959"/>
                </a:solidFill>
              </a:rPr>
              <a:t>(distinct 2-8, entropy 2-6, recursive 2-4)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2971800"/>
            <a:ext cx="8229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971800"/>
            <a:ext cx="4023360" cy="1234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595959"/>
                </a:solidFill>
              </a:rPr>
              <a:t>l = 3, vary k</a:t>
            </a:r>
          </a:p>
          <a:p>
            <a:pPr algn="ctr"/>
            <a:r>
              <a:rPr sz="1500" b="0">
                <a:solidFill>
                  <a:srgbClr val="595959"/>
                </a:solidFill>
              </a:rPr>
              <a:t>(2, 3, 5, 10, 20, 50, 100)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4480560"/>
            <a:ext cx="8229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4480560"/>
            <a:ext cx="4023360" cy="12344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595959"/>
                </a:solidFill>
              </a:rPr>
              <a:t>k = 10, l = 3 and 6</a:t>
            </a:r>
          </a:p>
          <a:p>
            <a:pPr algn="ctr"/>
            <a:r>
              <a:rPr sz="1500" b="0">
                <a:solidFill>
                  <a:srgbClr val="595959"/>
                </a:solidFill>
              </a:rPr>
              <a:t>split repair switched 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</a:rPr>
              <a:t>Larger k is not enough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645920" cy="0"/>
          </a:xfrm>
          <a:prstGeom prst="line">
            <a:avLst/>
          </a:prstGeom>
          <a:ln w="3810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Schwabe, Zylja  |  SPAI 2026, Exercise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6</a:t>
            </a:r>
          </a:p>
        </p:txBody>
      </p:sp>
      <p:pic>
        <p:nvPicPr>
          <p:cNvPr id="6" name="Picture 5" descr="adult_privacy_vs_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47120" cy="32804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949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</a:rPr>
              <a:t>Original TDG: 4,522 violating ECs at k = 2, still 1 at k = 20.  </a:t>
            </a:r>
            <a:r>
              <a:rPr sz="1600" b="1">
                <a:solidFill>
                  <a:srgbClr val="3C8D5A"/>
                </a:solidFill>
              </a:rPr>
              <a:t>TDG + l: 0 in every run. </a:t>
            </a:r>
            <a:r>
              <a:rPr sz="1600" b="0">
                <a:solidFill>
                  <a:srgbClr val="595959"/>
                </a:solidFill>
              </a:rPr>
              <a:t>3-diversity by raising k costs NCP 0.251 (k = 50) vs. 0.092 with k = 10, l =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</a:rPr>
              <a:t>Information loss for increasing l (k = 10)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645920" cy="0"/>
          </a:xfrm>
          <a:prstGeom prst="line">
            <a:avLst/>
          </a:prstGeom>
          <a:ln w="3810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Schwabe, Zylja  |  SPAI 2026, Exercise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7</a:t>
            </a:r>
          </a:p>
        </p:txBody>
      </p:sp>
      <p:pic>
        <p:nvPicPr>
          <p:cNvPr id="6" name="Picture 5" descr="adult_info_vs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47120" cy="32804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492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595959"/>
                </a:solidFill>
              </a:rPr>
              <a:t>•  distinct l = 3: NCP 0.091 -&gt; 0.092, l = 8: 0.163; entropy is stricter (0.268 at l = 6)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595959"/>
                </a:solidFill>
              </a:rPr>
              <a:t>•  runtime in the same range for both (roughly 20-70 s per run), no large overhead from the repair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</a:rPr>
              <a:t>Why we repair instead of rejecting splits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645920" cy="0"/>
          </a:xfrm>
          <a:prstGeom prst="line">
            <a:avLst/>
          </a:prstGeom>
          <a:ln w="3810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Schwabe, Zylja  |  SPAI 2026, Exercise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8</a:t>
            </a:r>
          </a:p>
        </p:txBody>
      </p:sp>
      <p:pic>
        <p:nvPicPr>
          <p:cNvPr id="6" name="Picture 5" descr="adult_re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315200" cy="2926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38160" y="1554480"/>
            <a:ext cx="3566160" cy="329184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691640"/>
            <a:ext cx="32918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</a:rPr>
              <a:t>Reject only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</a:rPr>
              <a:t>NCP 0.450, 354 ECs (l = 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C8D5A"/>
                </a:solidFill>
              </a:rPr>
              <a:t>With repair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</a:rPr>
              <a:t>NCP 0.092, 1,758 ECs (l = 3)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</a:rPr>
              <a:t>Moving a few records with missing occupations keeps the recursion going.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</a:rPr>
              <a:t>Classification performance barely changes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645920" cy="0"/>
          </a:xfrm>
          <a:prstGeom prst="line">
            <a:avLst/>
          </a:prstGeom>
          <a:ln w="3810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Schwabe, Zylja  |  SPAI 2026, Exercise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9</a:t>
            </a:r>
          </a:p>
        </p:txBody>
      </p:sp>
      <p:pic>
        <p:nvPicPr>
          <p:cNvPr id="6" name="Picture 5" descr="adult_ml_vs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47120" cy="32804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949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</a:rPr>
              <a:t>Weighted F1 (KNN / SVM / RF): </a:t>
            </a:r>
            <a:r>
              <a:rPr sz="1500" b="0">
                <a:solidFill>
                  <a:srgbClr val="595959"/>
                </a:solidFill>
              </a:rPr>
              <a:t>original 0.762 / 0.823 / 0.814, </a:t>
            </a:r>
            <a:r>
              <a:rPr sz="1500" b="0">
                <a:solidFill>
                  <a:srgbClr val="595959"/>
                </a:solidFill>
              </a:rPr>
              <a:t>TDG k = 10 0.762 / 0.818 / 0.811, </a:t>
            </a:r>
            <a:r>
              <a:rPr sz="1500" b="1">
                <a:solidFill>
                  <a:srgbClr val="595959"/>
                </a:solidFill>
              </a:rPr>
              <a:t>TDG + l = 3 0.763 / 0.816 / 0.811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</a:rPr>
              <a:t>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51560"/>
            <a:ext cx="1645920" cy="0"/>
          </a:xfrm>
          <a:prstGeom prst="line">
            <a:avLst/>
          </a:prstGeom>
          <a:ln w="3810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Schwabe, Zylja  |  SPAI 2026, Exercise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</a:rPr>
              <a:t>What we 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TDG + l-diversity: 0 violations in all runs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k = 10, l = 3 is almost free (NCP +0.001, same F1)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raising k instead would need k = 50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repairing splits is the key, rejecting them costs ~5x NCP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</a:rPr>
              <a:t>Limitations / 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one dataset, occupation is fairly balanced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greedy repair, not optimal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distinct l does not stop skewness / similarity attacks -&gt; t-closeness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595959"/>
                </a:solidFill>
              </a:rPr>
              <a:t>•  whole table must already be l-diverse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</a:rPr>
              <a:t>Thank you!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6DFEA"/>
                </a:solidFill>
              </a:rPr>
              <a:t>Code: algorithms/top_down_greedy, compare_topdown.py, demo_topdown.py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