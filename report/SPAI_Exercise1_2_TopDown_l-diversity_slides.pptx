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intro: who we are, we did task 1.2 with Top-Down Greedy on cahousing.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from cahousing, original TDG with k = 10. The table is 10-anonymous, but if I know where a district is and roughly its income and house value, I know its ocean proximity for sure. The reason is that ocean proximity basically follows from longitude and latitude.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of how TDG works, because our change is inside the split step. Important: the split only looks at QI distance (NCP), the sensitive attribute is ignored completely.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contribution. A split is only kept if both halves are k-anonymous AND l-diverse. If one half fails, we do not throw the split away directly but take records from the other half that bring in the missing occupations. Without l (l = 0) the original code path is 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cahousing is the dataset from the toolbox. ocean_proximity has only three values and is also the class the toolbox predicts, so l can only be 2 or 3. We also compare three ways of handling bad splits.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and middle: the original TDG has a lot of homogeneous ECs, ours has none. Right: how often you are right if you guess the most frequent value of the EC. Distinct l = 2 still 87% at k = 10, because the ECs are very skewed, e.g. 393 vs. 2 districts. Only entropy l brings it close to the 44% you get without any QI.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Distinct l = 2 doubles the NCP at k = 2, but the gap closes with larger k. And compared at the same NCP it is better than just raising k: TDG at k = 20 has a similar NCP and still 7,255 districts in homogeneous ECs.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Retry was our first idea: try up to 10 new random splits. It helps a bit, but a new random split has the same problem because the SA is ignored. The repair moves a few records with the missing values and gives the lowest NCP in all four settings.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Dashed line is the original data. ocean_proximity is the SA and the class at the same time, so l-diversity mixes classes inside every EC. l = 2 costs little, l = 3 and entropy cost a lot. KNN is weak even on the original data because the toolbox does not scale its features. We also found two bugs in the toolbox evaluation on cahousing (decimal numbers became 0, rows matched by 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messages: it works, repair is the best strategy, but on cahousing distinct l-diversity alone is weak and strong l-diversity destroys the prediction of the same column.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54864"/>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1463040"/>
          </a:xfrm>
          <a:prstGeom prst="rect">
            <a:avLst/>
          </a:prstGeom>
          <a:noFill/>
        </p:spPr>
        <p:txBody>
          <a:bodyPr wrap="square" anchor="t">
            <a:spAutoFit/>
          </a:bodyPr>
          <a:lstStyle/>
          <a:p>
            <a:pPr algn="l">
              <a:spcAft>
                <a:spcPts val="600"/>
              </a:spcAft>
            </a:pPr>
            <a:r>
              <a:rPr sz="4400" b="1">
                <a:solidFill>
                  <a:srgbClr val="FFFFFF"/>
                </a:solidFill>
              </a:rPr>
              <a:t>l-Diversity for Top-Down Greedy</a:t>
            </a:r>
          </a:p>
        </p:txBody>
      </p:sp>
      <p:sp>
        <p:nvSpPr>
          <p:cNvPr id="5" name="TextBox 4"/>
          <p:cNvSpPr txBox="1"/>
          <p:nvPr/>
        </p:nvSpPr>
        <p:spPr>
          <a:xfrm>
            <a:off x="731520" y="2514600"/>
            <a:ext cx="10515600" cy="731520"/>
          </a:xfrm>
          <a:prstGeom prst="rect">
            <a:avLst/>
          </a:prstGeom>
          <a:noFill/>
        </p:spPr>
        <p:txBody>
          <a:bodyPr wrap="square" anchor="t">
            <a:spAutoFit/>
          </a:bodyPr>
          <a:lstStyle/>
          <a:p>
            <a:pPr algn="l">
              <a:spcAft>
                <a:spcPts val="600"/>
              </a:spcAft>
            </a:pPr>
            <a:r>
              <a:rPr sz="2000" b="0">
                <a:solidFill>
                  <a:srgbClr val="D6DFEA"/>
                </a:solidFill>
              </a:rPr>
              <a:t>Extending the k-anonymity toolbox so that equivalence classes also hide the sensitive value</a:t>
            </a:r>
          </a:p>
        </p:txBody>
      </p:sp>
      <p:sp>
        <p:nvSpPr>
          <p:cNvPr id="6" name="TextBox 5"/>
          <p:cNvSpPr txBox="1"/>
          <p:nvPr/>
        </p:nvSpPr>
        <p:spPr>
          <a:xfrm>
            <a:off x="731520" y="3657600"/>
            <a:ext cx="10058400" cy="1097280"/>
          </a:xfrm>
          <a:prstGeom prst="rect">
            <a:avLst/>
          </a:prstGeom>
          <a:noFill/>
        </p:spPr>
        <p:txBody>
          <a:bodyPr wrap="square" anchor="t">
            <a:spAutoFit/>
          </a:bodyPr>
          <a:lstStyle/>
          <a:p>
            <a:pPr algn="l">
              <a:spcAft>
                <a:spcPts val="600"/>
              </a:spcAft>
            </a:pPr>
            <a:r>
              <a:rPr sz="1800" b="0">
                <a:solidFill>
                  <a:srgbClr val="FFFFFF"/>
                </a:solidFill>
              </a:rPr>
              <a:t>Lara Schwabe, Livia Zylja</a:t>
            </a:r>
          </a:p>
          <a:p>
            <a:pPr algn="l">
              <a:spcAft>
                <a:spcPts val="600"/>
              </a:spcAft>
            </a:pPr>
            <a:r>
              <a:rPr sz="1800" b="0">
                <a:solidFill>
                  <a:srgbClr val="FFFFFF"/>
                </a:solidFill>
              </a:rPr>
              <a:t>SPAI 2026, Exercise 1.2 (Anonymisation)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k-anonymity alone still leaks ocean proximity</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2</a:t>
            </a:r>
          </a:p>
        </p:txBody>
      </p:sp>
      <p:sp>
        <p:nvSpPr>
          <p:cNvPr id="6" name="TextBox 5"/>
          <p:cNvSpPr txBox="1"/>
          <p:nvPr/>
        </p:nvSpPr>
        <p:spPr>
          <a:xfrm>
            <a:off x="548640" y="1325880"/>
            <a:ext cx="6400800" cy="365760"/>
          </a:xfrm>
          <a:prstGeom prst="rect">
            <a:avLst/>
          </a:prstGeom>
          <a:noFill/>
        </p:spPr>
        <p:txBody>
          <a:bodyPr wrap="square" anchor="t">
            <a:spAutoFit/>
          </a:bodyPr>
          <a:lstStyle/>
          <a:p>
            <a:pPr algn="l">
              <a:spcAft>
                <a:spcPts val="600"/>
              </a:spcAft>
            </a:pPr>
            <a:r>
              <a:rPr sz="1400" b="1">
                <a:solidFill>
                  <a:srgbClr val="1F3A5F"/>
                </a:solidFill>
              </a:rPr>
              <a:t>cahousing, original TDG, k = 10 (largest homogeneous ECs)</a:t>
            </a:r>
          </a:p>
        </p:txBody>
      </p:sp>
      <p:graphicFrame>
        <p:nvGraphicFramePr>
          <p:cNvPr id="7" name="Table 6"/>
          <p:cNvGraphicFramePr>
            <a:graphicFrameLocks noGrp="1"/>
          </p:cNvGraphicFramePr>
          <p:nvPr/>
        </p:nvGraphicFramePr>
        <p:xfrm>
          <a:off x="548640" y="1737360"/>
          <a:ext cx="6400800" cy="2011680"/>
        </p:xfrm>
        <a:graphic>
          <a:graphicData uri="http://schemas.openxmlformats.org/drawingml/2006/table">
            <a:tbl>
              <a:tblPr firstRow="1" bandRow="1">
                <a:tableStyleId>{5C22544A-7EE6-4342-B048-85BDC9FD1C3A}</a:tableStyleId>
              </a:tblPr>
              <a:tblGrid>
                <a:gridCol w="914400"/>
                <a:gridCol w="822960"/>
                <a:gridCol w="1005840"/>
                <a:gridCol w="1463040"/>
                <a:gridCol w="548640"/>
                <a:gridCol w="1645920"/>
              </a:tblGrid>
              <a:tr h="402336">
                <a:tc>
                  <a:txBody>
                    <a:bodyPr/>
                    <a:lstStyle/>
                    <a:p>
                      <a:r>
                        <a:rPr sz="1200" b="1">
                          <a:solidFill>
                            <a:srgbClr val="FFFFFF"/>
                          </a:solidFill>
                        </a:rPr>
                        <a:t>longitude</a:t>
                      </a:r>
                    </a:p>
                  </a:txBody>
                  <a:tcPr>
                    <a:solidFill>
                      <a:srgbClr val="1F3A5F"/>
                    </a:solidFill>
                  </a:tcPr>
                </a:tc>
                <a:tc>
                  <a:txBody>
                    <a:bodyPr/>
                    <a:lstStyle/>
                    <a:p>
                      <a:r>
                        <a:rPr sz="1200" b="1">
                          <a:solidFill>
                            <a:srgbClr val="FFFFFF"/>
                          </a:solidFill>
                        </a:rPr>
                        <a:t>latitude</a:t>
                      </a:r>
                    </a:p>
                  </a:txBody>
                  <a:tcPr>
                    <a:solidFill>
                      <a:srgbClr val="1F3A5F"/>
                    </a:solidFill>
                  </a:tcPr>
                </a:tc>
                <a:tc>
                  <a:txBody>
                    <a:bodyPr/>
                    <a:lstStyle/>
                    <a:p>
                      <a:r>
                        <a:rPr sz="1200" b="1">
                          <a:solidFill>
                            <a:srgbClr val="FFFFFF"/>
                          </a:solidFill>
                        </a:rPr>
                        <a:t>income</a:t>
                      </a:r>
                    </a:p>
                  </a:txBody>
                  <a:tcPr>
                    <a:solidFill>
                      <a:srgbClr val="1F3A5F"/>
                    </a:solidFill>
                  </a:tcPr>
                </a:tc>
                <a:tc>
                  <a:txBody>
                    <a:bodyPr/>
                    <a:lstStyle/>
                    <a:p>
                      <a:r>
                        <a:rPr sz="1200" b="1">
                          <a:solidFill>
                            <a:srgbClr val="FFFFFF"/>
                          </a:solidFill>
                        </a:rPr>
                        <a:t>house value</a:t>
                      </a:r>
                    </a:p>
                  </a:txBody>
                  <a:tcPr>
                    <a:solidFill>
                      <a:srgbClr val="1F3A5F"/>
                    </a:solidFill>
                  </a:tcPr>
                </a:tc>
                <a:tc>
                  <a:txBody>
                    <a:bodyPr/>
                    <a:lstStyle/>
                    <a:p>
                      <a:r>
                        <a:rPr sz="1200" b="1">
                          <a:solidFill>
                            <a:srgbClr val="FFFFFF"/>
                          </a:solidFill>
                        </a:rPr>
                        <a:t>size</a:t>
                      </a:r>
                    </a:p>
                  </a:txBody>
                  <a:tcPr>
                    <a:solidFill>
                      <a:srgbClr val="1F3A5F"/>
                    </a:solidFill>
                  </a:tcPr>
                </a:tc>
                <a:tc>
                  <a:txBody>
                    <a:bodyPr/>
                    <a:lstStyle/>
                    <a:p>
                      <a:r>
                        <a:rPr sz="1200" b="1">
                          <a:solidFill>
                            <a:srgbClr val="FFFFFF"/>
                          </a:solidFill>
                        </a:rPr>
                        <a:t>ocean_proximity</a:t>
                      </a:r>
                    </a:p>
                  </a:txBody>
                  <a:tcPr>
                    <a:solidFill>
                      <a:srgbClr val="1F3A5F"/>
                    </a:solidFill>
                  </a:tcPr>
                </a:tc>
              </a:tr>
              <a:tr h="402336">
                <a:tc>
                  <a:txBody>
                    <a:bodyPr/>
                    <a:lstStyle/>
                    <a:p>
                      <a:r>
                        <a:rPr sz="1200" b="0">
                          <a:solidFill>
                            <a:srgbClr val="595959"/>
                          </a:solidFill>
                        </a:rPr>
                        <a:t>-119</a:t>
                      </a:r>
                    </a:p>
                  </a:txBody>
                  <a:tcPr>
                    <a:solidFill>
                      <a:srgbClr val="FBE3D0"/>
                    </a:solidFill>
                  </a:tcPr>
                </a:tc>
                <a:tc>
                  <a:txBody>
                    <a:bodyPr/>
                    <a:lstStyle/>
                    <a:p>
                      <a:r>
                        <a:rPr sz="1200" b="0">
                          <a:solidFill>
                            <a:srgbClr val="595959"/>
                          </a:solidFill>
                        </a:rPr>
                        <a:t>36</a:t>
                      </a:r>
                    </a:p>
                  </a:txBody>
                  <a:tcPr>
                    <a:solidFill>
                      <a:srgbClr val="FBE3D0"/>
                    </a:solidFill>
                  </a:tcPr>
                </a:tc>
                <a:tc>
                  <a:txBody>
                    <a:bodyPr/>
                    <a:lstStyle/>
                    <a:p>
                      <a:r>
                        <a:rPr sz="1200" b="0">
                          <a:solidFill>
                            <a:srgbClr val="595959"/>
                          </a:solidFill>
                        </a:rPr>
                        <a:t>0 ~ 3.53</a:t>
                      </a:r>
                    </a:p>
                  </a:txBody>
                  <a:tcPr>
                    <a:solidFill>
                      <a:srgbClr val="FBE3D0"/>
                    </a:solidFill>
                  </a:tcPr>
                </a:tc>
                <a:tc>
                  <a:txBody>
                    <a:bodyPr/>
                    <a:lstStyle/>
                    <a:p>
                      <a:r>
                        <a:rPr sz="1200" b="0">
                          <a:solidFill>
                            <a:srgbClr val="595959"/>
                          </a:solidFill>
                        </a:rPr>
                        <a:t>14,000 ~ 74,999</a:t>
                      </a:r>
                    </a:p>
                  </a:txBody>
                  <a:tcPr>
                    <a:solidFill>
                      <a:srgbClr val="FBE3D0"/>
                    </a:solidFill>
                  </a:tcPr>
                </a:tc>
                <a:tc>
                  <a:txBody>
                    <a:bodyPr/>
                    <a:lstStyle/>
                    <a:p>
                      <a:r>
                        <a:rPr sz="1200" b="0">
                          <a:solidFill>
                            <a:srgbClr val="595959"/>
                          </a:solidFill>
                        </a:rPr>
                        <a:t>74</a:t>
                      </a:r>
                    </a:p>
                  </a:txBody>
                  <a:tcPr>
                    <a:solidFill>
                      <a:srgbClr val="FBE3D0"/>
                    </a:solidFill>
                  </a:tcPr>
                </a:tc>
                <a:tc>
                  <a:txBody>
                    <a:bodyPr/>
                    <a:lstStyle/>
                    <a:p>
                      <a:r>
                        <a:rPr sz="1200" b="0">
                          <a:solidFill>
                            <a:srgbClr val="595959"/>
                          </a:solidFill>
                        </a:rPr>
                        <a:t>2 (all 74)</a:t>
                      </a:r>
                    </a:p>
                  </a:txBody>
                  <a:tcPr>
                    <a:solidFill>
                      <a:srgbClr val="FBE3D0"/>
                    </a:solidFill>
                  </a:tcPr>
                </a:tc>
              </a:tr>
              <a:tr h="402336">
                <a:tc>
                  <a:txBody>
                    <a:bodyPr/>
                    <a:lstStyle/>
                    <a:p>
                      <a:r>
                        <a:rPr sz="1200" b="0">
                          <a:solidFill>
                            <a:srgbClr val="595959"/>
                          </a:solidFill>
                        </a:rPr>
                        <a:t>-121</a:t>
                      </a:r>
                    </a:p>
                  </a:txBody>
                  <a:tcPr>
                    <a:solidFill>
                      <a:srgbClr val="FBE3D0"/>
                    </a:solidFill>
                  </a:tcPr>
                </a:tc>
                <a:tc>
                  <a:txBody>
                    <a:bodyPr/>
                    <a:lstStyle/>
                    <a:p>
                      <a:r>
                        <a:rPr sz="1200" b="0">
                          <a:solidFill>
                            <a:srgbClr val="595959"/>
                          </a:solidFill>
                        </a:rPr>
                        <a:t>38</a:t>
                      </a:r>
                    </a:p>
                  </a:txBody>
                  <a:tcPr>
                    <a:solidFill>
                      <a:srgbClr val="FBE3D0"/>
                    </a:solidFill>
                  </a:tcPr>
                </a:tc>
                <a:tc>
                  <a:txBody>
                    <a:bodyPr/>
                    <a:lstStyle/>
                    <a:p>
                      <a:r>
                        <a:rPr sz="1200" b="0">
                          <a:solidFill>
                            <a:srgbClr val="595959"/>
                          </a:solidFill>
                        </a:rPr>
                        <a:t>0 ~ 3.53</a:t>
                      </a:r>
                    </a:p>
                  </a:txBody>
                  <a:tcPr>
                    <a:solidFill>
                      <a:srgbClr val="FBE3D0"/>
                    </a:solidFill>
                  </a:tcPr>
                </a:tc>
                <a:tc>
                  <a:txBody>
                    <a:bodyPr/>
                    <a:lstStyle/>
                    <a:p>
                      <a:r>
                        <a:rPr sz="1200" b="0">
                          <a:solidFill>
                            <a:srgbClr val="595959"/>
                          </a:solidFill>
                        </a:rPr>
                        <a:t>75,000 ~ 135,999</a:t>
                      </a:r>
                    </a:p>
                  </a:txBody>
                  <a:tcPr>
                    <a:solidFill>
                      <a:srgbClr val="FBE3D0"/>
                    </a:solidFill>
                  </a:tcPr>
                </a:tc>
                <a:tc>
                  <a:txBody>
                    <a:bodyPr/>
                    <a:lstStyle/>
                    <a:p>
                      <a:r>
                        <a:rPr sz="1200" b="0">
                          <a:solidFill>
                            <a:srgbClr val="595959"/>
                          </a:solidFill>
                        </a:rPr>
                        <a:t>66</a:t>
                      </a:r>
                    </a:p>
                  </a:txBody>
                  <a:tcPr>
                    <a:solidFill>
                      <a:srgbClr val="FBE3D0"/>
                    </a:solidFill>
                  </a:tcPr>
                </a:tc>
                <a:tc>
                  <a:txBody>
                    <a:bodyPr/>
                    <a:lstStyle/>
                    <a:p>
                      <a:r>
                        <a:rPr sz="1200" b="0">
                          <a:solidFill>
                            <a:srgbClr val="595959"/>
                          </a:solidFill>
                        </a:rPr>
                        <a:t>2 (all 66)</a:t>
                      </a:r>
                    </a:p>
                  </a:txBody>
                  <a:tcPr>
                    <a:solidFill>
                      <a:srgbClr val="FBE3D0"/>
                    </a:solidFill>
                  </a:tcPr>
                </a:tc>
              </a:tr>
              <a:tr h="402336">
                <a:tc>
                  <a:txBody>
                    <a:bodyPr/>
                    <a:lstStyle/>
                    <a:p>
                      <a:r>
                        <a:rPr sz="1200" b="0">
                          <a:solidFill>
                            <a:srgbClr val="595959"/>
                          </a:solidFill>
                        </a:rPr>
                        <a:t>-119</a:t>
                      </a:r>
                    </a:p>
                  </a:txBody>
                  <a:tcPr>
                    <a:solidFill>
                      <a:srgbClr val="FBE3D0"/>
                    </a:solidFill>
                  </a:tcPr>
                </a:tc>
                <a:tc>
                  <a:txBody>
                    <a:bodyPr/>
                    <a:lstStyle/>
                    <a:p>
                      <a:r>
                        <a:rPr sz="1200" b="0">
                          <a:solidFill>
                            <a:srgbClr val="595959"/>
                          </a:solidFill>
                        </a:rPr>
                        <a:t>36</a:t>
                      </a:r>
                    </a:p>
                  </a:txBody>
                  <a:tcPr>
                    <a:solidFill>
                      <a:srgbClr val="FBE3D0"/>
                    </a:solidFill>
                  </a:tcPr>
                </a:tc>
                <a:tc>
                  <a:txBody>
                    <a:bodyPr/>
                    <a:lstStyle/>
                    <a:p>
                      <a:r>
                        <a:rPr sz="1200" b="0">
                          <a:solidFill>
                            <a:srgbClr val="595959"/>
                          </a:solidFill>
                        </a:rPr>
                        <a:t>0 ~ 3.53</a:t>
                      </a:r>
                    </a:p>
                  </a:txBody>
                  <a:tcPr>
                    <a:solidFill>
                      <a:srgbClr val="FBE3D0"/>
                    </a:solidFill>
                  </a:tcPr>
                </a:tc>
                <a:tc>
                  <a:txBody>
                    <a:bodyPr/>
                    <a:lstStyle/>
                    <a:p>
                      <a:r>
                        <a:rPr sz="1200" b="0">
                          <a:solidFill>
                            <a:srgbClr val="595959"/>
                          </a:solidFill>
                        </a:rPr>
                        <a:t>14,000 ~ 74,999</a:t>
                      </a:r>
                    </a:p>
                  </a:txBody>
                  <a:tcPr>
                    <a:solidFill>
                      <a:srgbClr val="FBE3D0"/>
                    </a:solidFill>
                  </a:tcPr>
                </a:tc>
                <a:tc>
                  <a:txBody>
                    <a:bodyPr/>
                    <a:lstStyle/>
                    <a:p>
                      <a:r>
                        <a:rPr sz="1200" b="0">
                          <a:solidFill>
                            <a:srgbClr val="595959"/>
                          </a:solidFill>
                        </a:rPr>
                        <a:t>64</a:t>
                      </a:r>
                    </a:p>
                  </a:txBody>
                  <a:tcPr>
                    <a:solidFill>
                      <a:srgbClr val="FBE3D0"/>
                    </a:solidFill>
                  </a:tcPr>
                </a:tc>
                <a:tc>
                  <a:txBody>
                    <a:bodyPr/>
                    <a:lstStyle/>
                    <a:p>
                      <a:r>
                        <a:rPr sz="1200" b="0">
                          <a:solidFill>
                            <a:srgbClr val="595959"/>
                          </a:solidFill>
                        </a:rPr>
                        <a:t>2 (all 64)</a:t>
                      </a:r>
                    </a:p>
                  </a:txBody>
                  <a:tcPr>
                    <a:solidFill>
                      <a:srgbClr val="FBE3D0"/>
                    </a:solidFill>
                  </a:tcPr>
                </a:tc>
              </a:tr>
              <a:tr h="402336">
                <a:tc>
                  <a:txBody>
                    <a:bodyPr/>
                    <a:lstStyle/>
                    <a:p>
                      <a:r>
                        <a:rPr sz="1200" b="0">
                          <a:solidFill>
                            <a:srgbClr val="595959"/>
                          </a:solidFill>
                        </a:rPr>
                        <a:t>-118</a:t>
                      </a:r>
                    </a:p>
                  </a:txBody>
                  <a:tcPr>
                    <a:solidFill>
                      <a:srgbClr val="FBE3D0"/>
                    </a:solidFill>
                  </a:tcPr>
                </a:tc>
                <a:tc>
                  <a:txBody>
                    <a:bodyPr/>
                    <a:lstStyle/>
                    <a:p>
                      <a:r>
                        <a:rPr sz="1200" b="0">
                          <a:solidFill>
                            <a:srgbClr val="595959"/>
                          </a:solidFill>
                        </a:rPr>
                        <a:t>33.8</a:t>
                      </a:r>
                    </a:p>
                  </a:txBody>
                  <a:tcPr>
                    <a:solidFill>
                      <a:srgbClr val="FBE3D0"/>
                    </a:solidFill>
                  </a:tcPr>
                </a:tc>
                <a:tc>
                  <a:txBody>
                    <a:bodyPr/>
                    <a:lstStyle/>
                    <a:p>
                      <a:r>
                        <a:rPr sz="1200" b="0">
                          <a:solidFill>
                            <a:srgbClr val="595959"/>
                          </a:solidFill>
                        </a:rPr>
                        <a:t>3.53 ~ 7.07</a:t>
                      </a:r>
                    </a:p>
                  </a:txBody>
                  <a:tcPr>
                    <a:solidFill>
                      <a:srgbClr val="FBE3D0"/>
                    </a:solidFill>
                  </a:tcPr>
                </a:tc>
                <a:tc>
                  <a:txBody>
                    <a:bodyPr/>
                    <a:lstStyle/>
                    <a:p>
                      <a:r>
                        <a:rPr sz="1200" b="0">
                          <a:solidFill>
                            <a:srgbClr val="595959"/>
                          </a:solidFill>
                        </a:rPr>
                        <a:t>197,000 ~ 257,999</a:t>
                      </a:r>
                    </a:p>
                  </a:txBody>
                  <a:tcPr>
                    <a:solidFill>
                      <a:srgbClr val="FBE3D0"/>
                    </a:solidFill>
                  </a:tcPr>
                </a:tc>
                <a:tc>
                  <a:txBody>
                    <a:bodyPr/>
                    <a:lstStyle/>
                    <a:p>
                      <a:r>
                        <a:rPr sz="1200" b="0">
                          <a:solidFill>
                            <a:srgbClr val="595959"/>
                          </a:solidFill>
                        </a:rPr>
                        <a:t>50</a:t>
                      </a:r>
                    </a:p>
                  </a:txBody>
                  <a:tcPr>
                    <a:solidFill>
                      <a:srgbClr val="FBE3D0"/>
                    </a:solidFill>
                  </a:tcPr>
                </a:tc>
                <a:tc>
                  <a:txBody>
                    <a:bodyPr/>
                    <a:lstStyle/>
                    <a:p>
                      <a:r>
                        <a:rPr sz="1200" b="0">
                          <a:solidFill>
                            <a:srgbClr val="595959"/>
                          </a:solidFill>
                        </a:rPr>
                        <a:t>1 (all 50)</a:t>
                      </a:r>
                    </a:p>
                  </a:txBody>
                  <a:tcPr>
                    <a:solidFill>
                      <a:srgbClr val="FBE3D0"/>
                    </a:solidFill>
                  </a:tcPr>
                </a:tc>
              </a:tr>
            </a:tbl>
          </a:graphicData>
        </a:graphic>
      </p:graphicFrame>
      <p:sp>
        <p:nvSpPr>
          <p:cNvPr id="8" name="TextBox 7"/>
          <p:cNvSpPr txBox="1"/>
          <p:nvPr/>
        </p:nvSpPr>
        <p:spPr>
          <a:xfrm>
            <a:off x="548640" y="3886200"/>
            <a:ext cx="6400800" cy="731520"/>
          </a:xfrm>
          <a:prstGeom prst="rect">
            <a:avLst/>
          </a:prstGeom>
          <a:noFill/>
        </p:spPr>
        <p:txBody>
          <a:bodyPr wrap="square" anchor="t">
            <a:spAutoFit/>
          </a:bodyPr>
          <a:lstStyle/>
          <a:p>
            <a:pPr algn="l">
              <a:spcAft>
                <a:spcPts val="600"/>
              </a:spcAft>
            </a:pPr>
            <a:r>
              <a:rPr sz="1300" b="0">
                <a:solidFill>
                  <a:srgbClr val="595959"/>
                </a:solidFill>
              </a:rPr>
              <a:t>Rows 1 and 3 differ in housing age. Everyone in the class has the same value (homogeneity attack). Age column left out.</a:t>
            </a:r>
          </a:p>
        </p:txBody>
      </p:sp>
      <p:sp>
        <p:nvSpPr>
          <p:cNvPr id="9" name="TextBox 8"/>
          <p:cNvSpPr txBox="1"/>
          <p:nvPr/>
        </p:nvSpPr>
        <p:spPr>
          <a:xfrm>
            <a:off x="7498079" y="1325880"/>
            <a:ext cx="4206240" cy="365760"/>
          </a:xfrm>
          <a:prstGeom prst="rect">
            <a:avLst/>
          </a:prstGeom>
          <a:noFill/>
        </p:spPr>
        <p:txBody>
          <a:bodyPr wrap="square" anchor="t">
            <a:spAutoFit/>
          </a:bodyPr>
          <a:lstStyle/>
          <a:p>
            <a:pPr algn="l">
              <a:spcAft>
                <a:spcPts val="600"/>
              </a:spcAft>
            </a:pPr>
            <a:r>
              <a:rPr sz="1400" b="1">
                <a:solidFill>
                  <a:srgbClr val="1F3A5F"/>
                </a:solidFill>
              </a:rPr>
              <a:t>Original TDG on cahousing</a:t>
            </a:r>
          </a:p>
        </p:txBody>
      </p:sp>
      <p:sp>
        <p:nvSpPr>
          <p:cNvPr id="10" name="Rectangle 9"/>
          <p:cNvSpPr/>
          <p:nvPr/>
        </p:nvSpPr>
        <p:spPr>
          <a:xfrm>
            <a:off x="7498079" y="1783080"/>
            <a:ext cx="4114800" cy="11887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1892807"/>
            <a:ext cx="1463040" cy="914400"/>
          </a:xfrm>
          <a:prstGeom prst="rect">
            <a:avLst/>
          </a:prstGeom>
          <a:noFill/>
        </p:spPr>
        <p:txBody>
          <a:bodyPr wrap="square" anchor="ctr">
            <a:spAutoFit/>
          </a:bodyPr>
          <a:lstStyle/>
          <a:p>
            <a:pPr algn="l">
              <a:spcAft>
                <a:spcPts val="600"/>
              </a:spcAft>
            </a:pPr>
            <a:r>
              <a:rPr sz="3000" b="1">
                <a:solidFill>
                  <a:srgbClr val="E07A1F"/>
                </a:solidFill>
              </a:rPr>
              <a:t>85%</a:t>
            </a:r>
          </a:p>
        </p:txBody>
      </p:sp>
      <p:sp>
        <p:nvSpPr>
          <p:cNvPr id="12" name="TextBox 11"/>
          <p:cNvSpPr txBox="1"/>
          <p:nvPr/>
        </p:nvSpPr>
        <p:spPr>
          <a:xfrm>
            <a:off x="9235440" y="1892807"/>
            <a:ext cx="2286000" cy="1005840"/>
          </a:xfrm>
          <a:prstGeom prst="rect">
            <a:avLst/>
          </a:prstGeom>
          <a:noFill/>
        </p:spPr>
        <p:txBody>
          <a:bodyPr wrap="square" anchor="ctr">
            <a:spAutoFit/>
          </a:bodyPr>
          <a:lstStyle/>
          <a:p>
            <a:pPr algn="l">
              <a:spcAft>
                <a:spcPts val="600"/>
              </a:spcAft>
            </a:pPr>
            <a:r>
              <a:rPr sz="1400" b="0">
                <a:solidFill>
                  <a:srgbClr val="595959"/>
                </a:solidFill>
              </a:rPr>
              <a:t>of districts in homogeneous ECs at k = 2</a:t>
            </a:r>
          </a:p>
        </p:txBody>
      </p:sp>
      <p:sp>
        <p:nvSpPr>
          <p:cNvPr id="13" name="Rectangle 12"/>
          <p:cNvSpPr/>
          <p:nvPr/>
        </p:nvSpPr>
        <p:spPr>
          <a:xfrm>
            <a:off x="7498079" y="3154680"/>
            <a:ext cx="4114800" cy="11887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3264408"/>
            <a:ext cx="1463040" cy="914400"/>
          </a:xfrm>
          <a:prstGeom prst="rect">
            <a:avLst/>
          </a:prstGeom>
          <a:noFill/>
        </p:spPr>
        <p:txBody>
          <a:bodyPr wrap="square" anchor="ctr">
            <a:spAutoFit/>
          </a:bodyPr>
          <a:lstStyle/>
          <a:p>
            <a:pPr algn="l">
              <a:spcAft>
                <a:spcPts val="600"/>
              </a:spcAft>
            </a:pPr>
            <a:r>
              <a:rPr sz="3000" b="1">
                <a:solidFill>
                  <a:srgbClr val="E07A1F"/>
                </a:solidFill>
              </a:rPr>
              <a:t>49%</a:t>
            </a:r>
          </a:p>
        </p:txBody>
      </p:sp>
      <p:sp>
        <p:nvSpPr>
          <p:cNvPr id="15" name="TextBox 14"/>
          <p:cNvSpPr txBox="1"/>
          <p:nvPr/>
        </p:nvSpPr>
        <p:spPr>
          <a:xfrm>
            <a:off x="9235440" y="3264408"/>
            <a:ext cx="2286000" cy="1005840"/>
          </a:xfrm>
          <a:prstGeom prst="rect">
            <a:avLst/>
          </a:prstGeom>
          <a:noFill/>
        </p:spPr>
        <p:txBody>
          <a:bodyPr wrap="square" anchor="ctr">
            <a:spAutoFit/>
          </a:bodyPr>
          <a:lstStyle/>
          <a:p>
            <a:pPr algn="l">
              <a:spcAft>
                <a:spcPts val="600"/>
              </a:spcAft>
            </a:pPr>
            <a:r>
              <a:rPr sz="1400" b="0">
                <a:solidFill>
                  <a:srgbClr val="595959"/>
                </a:solidFill>
              </a:rPr>
              <a:t>of districts in homogeneous ECs at k = 10</a:t>
            </a:r>
          </a:p>
        </p:txBody>
      </p:sp>
      <p:sp>
        <p:nvSpPr>
          <p:cNvPr id="16" name="Rectangle 15"/>
          <p:cNvSpPr/>
          <p:nvPr/>
        </p:nvSpPr>
        <p:spPr>
          <a:xfrm>
            <a:off x="7498079" y="4526280"/>
            <a:ext cx="4114800" cy="11887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4636008"/>
            <a:ext cx="1463040" cy="914400"/>
          </a:xfrm>
          <a:prstGeom prst="rect">
            <a:avLst/>
          </a:prstGeom>
          <a:noFill/>
        </p:spPr>
        <p:txBody>
          <a:bodyPr wrap="square" anchor="ctr">
            <a:spAutoFit/>
          </a:bodyPr>
          <a:lstStyle/>
          <a:p>
            <a:pPr algn="l">
              <a:spcAft>
                <a:spcPts val="600"/>
              </a:spcAft>
            </a:pPr>
            <a:r>
              <a:rPr sz="3000" b="1">
                <a:solidFill>
                  <a:srgbClr val="E07A1F"/>
                </a:solidFill>
              </a:rPr>
              <a:t>13</a:t>
            </a:r>
          </a:p>
        </p:txBody>
      </p:sp>
      <p:sp>
        <p:nvSpPr>
          <p:cNvPr id="18" name="TextBox 17"/>
          <p:cNvSpPr txBox="1"/>
          <p:nvPr/>
        </p:nvSpPr>
        <p:spPr>
          <a:xfrm>
            <a:off x="9235440" y="4636008"/>
            <a:ext cx="2286000" cy="1005840"/>
          </a:xfrm>
          <a:prstGeom prst="rect">
            <a:avLst/>
          </a:prstGeom>
          <a:noFill/>
        </p:spPr>
        <p:txBody>
          <a:bodyPr wrap="square" anchor="ctr">
            <a:spAutoFit/>
          </a:bodyPr>
          <a:lstStyle/>
          <a:p>
            <a:pPr algn="l">
              <a:spcAft>
                <a:spcPts val="600"/>
              </a:spcAft>
            </a:pPr>
            <a:r>
              <a:rPr sz="1400" b="0">
                <a:solidFill>
                  <a:srgbClr val="595959"/>
                </a:solidFill>
              </a:rPr>
              <a:t>homogeneous ECs left even at k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Top-Down Greedy (as in the toolbox)</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3</a:t>
            </a:r>
          </a:p>
        </p:txBody>
      </p:sp>
      <p:sp>
        <p:nvSpPr>
          <p:cNvPr id="6" name="TextBox 5"/>
          <p:cNvSpPr txBox="1"/>
          <p:nvPr/>
        </p:nvSpPr>
        <p:spPr>
          <a:xfrm>
            <a:off x="548640" y="1371600"/>
            <a:ext cx="5760720" cy="4572000"/>
          </a:xfrm>
          <a:prstGeom prst="rect">
            <a:avLst/>
          </a:prstGeom>
          <a:noFill/>
        </p:spPr>
        <p:txBody>
          <a:bodyPr wrap="square">
            <a:spAutoFit/>
          </a:bodyPr>
          <a:lstStyle/>
          <a:p>
            <a:pPr>
              <a:spcAft>
                <a:spcPts val="900"/>
              </a:spcAft>
            </a:pPr>
            <a:r>
              <a:rPr sz="1800">
                <a:solidFill>
                  <a:srgbClr val="595959"/>
                </a:solidFill>
              </a:rPr>
              <a:t>•  Start with the whole table as one partition</a:t>
            </a:r>
          </a:p>
          <a:p>
            <a:pPr>
              <a:spcAft>
                <a:spcPts val="900"/>
              </a:spcAft>
            </a:pPr>
            <a:r>
              <a:rPr sz="1800">
                <a:solidFill>
                  <a:srgbClr val="595959"/>
                </a:solidFill>
              </a:rPr>
              <a:t>•  Pick two records u, v that are far apart</a:t>
            </a:r>
          </a:p>
          <a:p>
            <a:pPr lvl="1">
              <a:spcAft>
                <a:spcPts val="400"/>
              </a:spcAft>
            </a:pPr>
            <a:r>
              <a:rPr sz="1500">
                <a:solidFill>
                  <a:srgbClr val="595959"/>
                </a:solidFill>
              </a:rPr>
              <a:t>–  distance = NCP of their common generalisation</a:t>
            </a:r>
          </a:p>
          <a:p>
            <a:pPr lvl="1">
              <a:spcAft>
                <a:spcPts val="400"/>
              </a:spcAft>
            </a:pPr>
            <a:r>
              <a:rPr sz="1500">
                <a:solidFill>
                  <a:srgbClr val="595959"/>
                </a:solidFill>
              </a:rPr>
              <a:t>–  3-round heuristic instead of all pairs</a:t>
            </a:r>
          </a:p>
          <a:p>
            <a:pPr>
              <a:spcAft>
                <a:spcPts val="900"/>
              </a:spcAft>
            </a:pPr>
            <a:r>
              <a:rPr sz="1800">
                <a:solidFill>
                  <a:srgbClr val="595959"/>
                </a:solidFill>
              </a:rPr>
              <a:t>•  Every record goes to the closer seed</a:t>
            </a:r>
          </a:p>
          <a:p>
            <a:pPr>
              <a:spcAft>
                <a:spcPts val="900"/>
              </a:spcAft>
            </a:pPr>
            <a:r>
              <a:rPr sz="1800">
                <a:solidFill>
                  <a:srgbClr val="595959"/>
                </a:solidFill>
              </a:rPr>
              <a:t>•  Side with &lt; k records: move nearest records or merge again</a:t>
            </a:r>
          </a:p>
          <a:p>
            <a:pPr>
              <a:spcAft>
                <a:spcPts val="900"/>
              </a:spcAft>
            </a:pPr>
            <a:r>
              <a:rPr sz="1800">
                <a:solidFill>
                  <a:srgbClr val="595959"/>
                </a:solidFill>
              </a:rPr>
              <a:t>•  Recurse until partitions have &lt; 2k records</a:t>
            </a:r>
          </a:p>
          <a:p>
            <a:pPr>
              <a:spcAft>
                <a:spcPts val="900"/>
              </a:spcAft>
            </a:pPr>
            <a:r>
              <a:rPr sz="1800">
                <a:solidFill>
                  <a:srgbClr val="595959"/>
                </a:solidFill>
              </a:rPr>
              <a:t>•  Generalise each partition (LCA in the hierarchy)</a:t>
            </a:r>
          </a:p>
        </p:txBody>
      </p:sp>
      <p:sp>
        <p:nvSpPr>
          <p:cNvPr id="7" name="Rectangle 6"/>
          <p:cNvSpPr/>
          <p:nvPr/>
        </p:nvSpPr>
        <p:spPr>
          <a:xfrm>
            <a:off x="7863840" y="1463040"/>
            <a:ext cx="2926080" cy="914400"/>
          </a:xfrm>
          <a:prstGeom prst="rect">
            <a:avLst/>
          </a:prstGeom>
          <a:solidFill>
            <a:srgbClr val="EEF2F6"/>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A5F"/>
                </a:solidFill>
              </a:rPr>
              <a:t>partition P</a:t>
            </a:r>
          </a:p>
          <a:p>
            <a:pPr algn="ctr"/>
            <a:r>
              <a:rPr sz="1500" b="0">
                <a:solidFill>
                  <a:srgbClr val="1F3A5F"/>
                </a:solidFill>
              </a:rPr>
              <a:t>|P| &gt;= 2k</a:t>
            </a:r>
          </a:p>
        </p:txBody>
      </p:sp>
      <p:cxnSp>
        <p:nvCxnSpPr>
          <p:cNvPr id="8" name="Connector 7"/>
          <p:cNvCxnSpPr/>
          <p:nvPr/>
        </p:nvCxnSpPr>
        <p:spPr>
          <a:xfrm flipH="1">
            <a:off x="8138160" y="2377440"/>
            <a:ext cx="640080" cy="82296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875520" y="2377440"/>
            <a:ext cx="640080" cy="82296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858000" y="3200400"/>
            <a:ext cx="2377440" cy="914400"/>
          </a:xfrm>
          <a:prstGeom prst="rect">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595959"/>
                </a:solidFill>
              </a:rPr>
              <a:t>records closer to u</a:t>
            </a:r>
          </a:p>
        </p:txBody>
      </p:sp>
      <p:sp>
        <p:nvSpPr>
          <p:cNvPr id="11" name="Rectangle 10"/>
          <p:cNvSpPr/>
          <p:nvPr/>
        </p:nvSpPr>
        <p:spPr>
          <a:xfrm>
            <a:off x="9418320" y="3200400"/>
            <a:ext cx="2377440" cy="914400"/>
          </a:xfrm>
          <a:prstGeom prst="rect">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595959"/>
                </a:solidFill>
              </a:rPr>
              <a:t>records closer to v</a:t>
            </a:r>
          </a:p>
        </p:txBody>
      </p:sp>
      <p:sp>
        <p:nvSpPr>
          <p:cNvPr id="12" name="TextBox 11"/>
          <p:cNvSpPr txBox="1"/>
          <p:nvPr/>
        </p:nvSpPr>
        <p:spPr>
          <a:xfrm>
            <a:off x="6583680" y="4389120"/>
            <a:ext cx="5303520" cy="1463040"/>
          </a:xfrm>
          <a:prstGeom prst="rect">
            <a:avLst/>
          </a:prstGeom>
          <a:noFill/>
        </p:spPr>
        <p:txBody>
          <a:bodyPr wrap="square" anchor="t">
            <a:spAutoFit/>
          </a:bodyPr>
          <a:lstStyle/>
          <a:p>
            <a:pPr algn="ctr">
              <a:spcAft>
                <a:spcPts val="600"/>
              </a:spcAft>
            </a:pPr>
            <a:r>
              <a:rPr sz="1600" b="1">
                <a:solidFill>
                  <a:srgbClr val="E07A1F"/>
                </a:solidFill>
              </a:rPr>
              <a:t>Only the QIs are used for the split.</a:t>
            </a:r>
          </a:p>
          <a:p>
            <a:pPr algn="ctr">
              <a:spcAft>
                <a:spcPts val="600"/>
              </a:spcAft>
            </a:pPr>
            <a:r>
              <a:rPr sz="1600" b="1">
                <a:solidFill>
                  <a:srgbClr val="E07A1F"/>
                </a:solidFill>
              </a:rPr>
              <a:t>The sensitive attribute plays no role.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Our change: check every split and repair it</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4</a:t>
            </a:r>
          </a:p>
        </p:txBody>
      </p:sp>
      <p:sp>
        <p:nvSpPr>
          <p:cNvPr id="6" name="Rectangle 5"/>
          <p:cNvSpPr/>
          <p:nvPr/>
        </p:nvSpPr>
        <p:spPr>
          <a:xfrm>
            <a:off x="548640" y="1463040"/>
            <a:ext cx="2606040" cy="21945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548640" cy="548640"/>
          </a:xfrm>
          <a:prstGeom prst="rect">
            <a:avLst/>
          </a:prstGeom>
          <a:noFill/>
        </p:spPr>
        <p:txBody>
          <a:bodyPr wrap="square" anchor="t">
            <a:spAutoFit/>
          </a:bodyPr>
          <a:lstStyle/>
          <a:p>
            <a:pPr algn="l">
              <a:spcAft>
                <a:spcPts val="600"/>
              </a:spcAft>
            </a:pPr>
            <a:r>
              <a:rPr sz="2600" b="1">
                <a:solidFill>
                  <a:srgbClr val="E07A1F"/>
                </a:solidFill>
              </a:rPr>
              <a:t>1</a:t>
            </a:r>
          </a:p>
        </p:txBody>
      </p:sp>
      <p:sp>
        <p:nvSpPr>
          <p:cNvPr id="8" name="TextBox 7"/>
          <p:cNvSpPr txBox="1"/>
          <p:nvPr/>
        </p:nvSpPr>
        <p:spPr>
          <a:xfrm>
            <a:off x="685800" y="2057400"/>
            <a:ext cx="2377440" cy="457200"/>
          </a:xfrm>
          <a:prstGeom prst="rect">
            <a:avLst/>
          </a:prstGeom>
          <a:noFill/>
        </p:spPr>
        <p:txBody>
          <a:bodyPr wrap="square" anchor="t">
            <a:spAutoFit/>
          </a:bodyPr>
          <a:lstStyle/>
          <a:p>
            <a:pPr algn="l">
              <a:spcAft>
                <a:spcPts val="600"/>
              </a:spcAft>
            </a:pPr>
            <a:r>
              <a:rPr sz="1600" b="1">
                <a:solidFill>
                  <a:srgbClr val="1F3A5F"/>
                </a:solidFill>
              </a:rPr>
              <a:t>Split as before</a:t>
            </a:r>
          </a:p>
        </p:txBody>
      </p:sp>
      <p:sp>
        <p:nvSpPr>
          <p:cNvPr id="9" name="TextBox 8"/>
          <p:cNvSpPr txBox="1"/>
          <p:nvPr/>
        </p:nvSpPr>
        <p:spPr>
          <a:xfrm>
            <a:off x="685800" y="2514600"/>
            <a:ext cx="2377440" cy="1097280"/>
          </a:xfrm>
          <a:prstGeom prst="rect">
            <a:avLst/>
          </a:prstGeom>
          <a:noFill/>
        </p:spPr>
        <p:txBody>
          <a:bodyPr wrap="square" anchor="t">
            <a:spAutoFit/>
          </a:bodyPr>
          <a:lstStyle/>
          <a:p>
            <a:pPr algn="l">
              <a:spcAft>
                <a:spcPts val="600"/>
              </a:spcAft>
            </a:pPr>
            <a:r>
              <a:rPr sz="1300" b="0">
                <a:solidFill>
                  <a:srgbClr val="595959"/>
                </a:solidFill>
              </a:rPr>
              <a:t>seeds u, v, closer seed</a:t>
            </a:r>
          </a:p>
        </p:txBody>
      </p:sp>
      <p:cxnSp>
        <p:nvCxnSpPr>
          <p:cNvPr id="10" name="Connector 9"/>
          <p:cNvCxnSpPr/>
          <p:nvPr/>
        </p:nvCxnSpPr>
        <p:spPr>
          <a:xfrm>
            <a:off x="3182112" y="2514600"/>
            <a:ext cx="219456" cy="0"/>
          </a:xfrm>
          <a:prstGeom prst="line">
            <a:avLst/>
          </a:prstGeom>
          <a:ln w="25400">
            <a:solidFill>
              <a:srgbClr val="E07A1F"/>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429000" y="1463040"/>
            <a:ext cx="2606040" cy="21945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554480"/>
            <a:ext cx="548640" cy="548640"/>
          </a:xfrm>
          <a:prstGeom prst="rect">
            <a:avLst/>
          </a:prstGeom>
          <a:noFill/>
        </p:spPr>
        <p:txBody>
          <a:bodyPr wrap="square" anchor="t">
            <a:spAutoFit/>
          </a:bodyPr>
          <a:lstStyle/>
          <a:p>
            <a:pPr algn="l">
              <a:spcAft>
                <a:spcPts val="600"/>
              </a:spcAft>
            </a:pPr>
            <a:r>
              <a:rPr sz="2600" b="1">
                <a:solidFill>
                  <a:srgbClr val="E07A1F"/>
                </a:solidFill>
              </a:rPr>
              <a:t>2</a:t>
            </a:r>
          </a:p>
        </p:txBody>
      </p:sp>
      <p:sp>
        <p:nvSpPr>
          <p:cNvPr id="13" name="TextBox 12"/>
          <p:cNvSpPr txBox="1"/>
          <p:nvPr/>
        </p:nvSpPr>
        <p:spPr>
          <a:xfrm>
            <a:off x="3566160" y="2057400"/>
            <a:ext cx="2377440" cy="457200"/>
          </a:xfrm>
          <a:prstGeom prst="rect">
            <a:avLst/>
          </a:prstGeom>
          <a:noFill/>
        </p:spPr>
        <p:txBody>
          <a:bodyPr wrap="square" anchor="t">
            <a:spAutoFit/>
          </a:bodyPr>
          <a:lstStyle/>
          <a:p>
            <a:pPr algn="l">
              <a:spcAft>
                <a:spcPts val="600"/>
              </a:spcAft>
            </a:pPr>
            <a:r>
              <a:rPr sz="1600" b="1">
                <a:solidFill>
                  <a:srgbClr val="1F3A5F"/>
                </a:solidFill>
              </a:rPr>
              <a:t>Check both halves</a:t>
            </a:r>
          </a:p>
        </p:txBody>
      </p:sp>
      <p:sp>
        <p:nvSpPr>
          <p:cNvPr id="14" name="TextBox 13"/>
          <p:cNvSpPr txBox="1"/>
          <p:nvPr/>
        </p:nvSpPr>
        <p:spPr>
          <a:xfrm>
            <a:off x="3566160" y="2514600"/>
            <a:ext cx="2377440" cy="1097280"/>
          </a:xfrm>
          <a:prstGeom prst="rect">
            <a:avLst/>
          </a:prstGeom>
          <a:noFill/>
        </p:spPr>
        <p:txBody>
          <a:bodyPr wrap="square" anchor="t">
            <a:spAutoFit/>
          </a:bodyPr>
          <a:lstStyle/>
          <a:p>
            <a:pPr algn="l">
              <a:spcAft>
                <a:spcPts val="600"/>
              </a:spcAft>
            </a:pPr>
            <a:r>
              <a:rPr sz="1300" b="0">
                <a:solidFill>
                  <a:srgbClr val="595959"/>
                </a:solidFill>
              </a:rPr>
              <a:t>&gt;= k records and l-diverse?</a:t>
            </a:r>
          </a:p>
        </p:txBody>
      </p:sp>
      <p:cxnSp>
        <p:nvCxnSpPr>
          <p:cNvPr id="15" name="Connector 14"/>
          <p:cNvCxnSpPr/>
          <p:nvPr/>
        </p:nvCxnSpPr>
        <p:spPr>
          <a:xfrm>
            <a:off x="6062472" y="2514600"/>
            <a:ext cx="219456" cy="0"/>
          </a:xfrm>
          <a:prstGeom prst="line">
            <a:avLst/>
          </a:prstGeom>
          <a:ln w="25400">
            <a:solidFill>
              <a:srgbClr val="E07A1F"/>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309359" y="1463040"/>
            <a:ext cx="2606040" cy="21945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554480"/>
            <a:ext cx="548640" cy="548640"/>
          </a:xfrm>
          <a:prstGeom prst="rect">
            <a:avLst/>
          </a:prstGeom>
          <a:noFill/>
        </p:spPr>
        <p:txBody>
          <a:bodyPr wrap="square" anchor="t">
            <a:spAutoFit/>
          </a:bodyPr>
          <a:lstStyle/>
          <a:p>
            <a:pPr algn="l">
              <a:spcAft>
                <a:spcPts val="600"/>
              </a:spcAft>
            </a:pPr>
            <a:r>
              <a:rPr sz="2600" b="1">
                <a:solidFill>
                  <a:srgbClr val="E07A1F"/>
                </a:solidFill>
              </a:rPr>
              <a:t>3</a:t>
            </a:r>
          </a:p>
        </p:txBody>
      </p:sp>
      <p:sp>
        <p:nvSpPr>
          <p:cNvPr id="18" name="TextBox 17"/>
          <p:cNvSpPr txBox="1"/>
          <p:nvPr/>
        </p:nvSpPr>
        <p:spPr>
          <a:xfrm>
            <a:off x="6446520" y="2057400"/>
            <a:ext cx="2377440" cy="457200"/>
          </a:xfrm>
          <a:prstGeom prst="rect">
            <a:avLst/>
          </a:prstGeom>
          <a:noFill/>
        </p:spPr>
        <p:txBody>
          <a:bodyPr wrap="square" anchor="t">
            <a:spAutoFit/>
          </a:bodyPr>
          <a:lstStyle/>
          <a:p>
            <a:pPr algn="l">
              <a:spcAft>
                <a:spcPts val="600"/>
              </a:spcAft>
            </a:pPr>
            <a:r>
              <a:rPr sz="1600" b="1">
                <a:solidFill>
                  <a:srgbClr val="1F3A5F"/>
                </a:solidFill>
              </a:rPr>
              <a:t>Repair the bad half</a:t>
            </a:r>
          </a:p>
        </p:txBody>
      </p:sp>
      <p:sp>
        <p:nvSpPr>
          <p:cNvPr id="19" name="TextBox 18"/>
          <p:cNvSpPr txBox="1"/>
          <p:nvPr/>
        </p:nvSpPr>
        <p:spPr>
          <a:xfrm>
            <a:off x="6446520" y="2514600"/>
            <a:ext cx="2377440" cy="1097280"/>
          </a:xfrm>
          <a:prstGeom prst="rect">
            <a:avLst/>
          </a:prstGeom>
          <a:noFill/>
        </p:spPr>
        <p:txBody>
          <a:bodyPr wrap="square" anchor="t">
            <a:spAutoFit/>
          </a:bodyPr>
          <a:lstStyle/>
          <a:p>
            <a:pPr algn="l">
              <a:spcAft>
                <a:spcPts val="600"/>
              </a:spcAft>
            </a:pPr>
            <a:r>
              <a:rPr sz="1300" b="0">
                <a:solidFill>
                  <a:srgbClr val="595959"/>
                </a:solidFill>
              </a:rPr>
              <a:t>move nearest records with</a:t>
            </a:r>
          </a:p>
          <a:p>
            <a:pPr algn="l">
              <a:spcAft>
                <a:spcPts val="600"/>
              </a:spcAft>
            </a:pPr>
            <a:r>
              <a:rPr sz="1300" b="0">
                <a:solidFill>
                  <a:srgbClr val="595959"/>
                </a:solidFill>
              </a:rPr>
              <a:t>missing SA values over,</a:t>
            </a:r>
          </a:p>
          <a:p>
            <a:pPr algn="l">
              <a:spcAft>
                <a:spcPts val="600"/>
              </a:spcAft>
            </a:pPr>
            <a:r>
              <a:rPr sz="1300" b="0">
                <a:solidFill>
                  <a:srgbClr val="595959"/>
                </a:solidFill>
              </a:rPr>
              <a:t>other half must stay valid</a:t>
            </a:r>
          </a:p>
        </p:txBody>
      </p:sp>
      <p:cxnSp>
        <p:nvCxnSpPr>
          <p:cNvPr id="20" name="Connector 19"/>
          <p:cNvCxnSpPr/>
          <p:nvPr/>
        </p:nvCxnSpPr>
        <p:spPr>
          <a:xfrm>
            <a:off x="8942832" y="2514600"/>
            <a:ext cx="219456" cy="0"/>
          </a:xfrm>
          <a:prstGeom prst="line">
            <a:avLst/>
          </a:prstGeom>
          <a:ln w="25400">
            <a:solidFill>
              <a:srgbClr val="E07A1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189719" y="1463040"/>
            <a:ext cx="2606040" cy="21945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1554480"/>
            <a:ext cx="548640" cy="548640"/>
          </a:xfrm>
          <a:prstGeom prst="rect">
            <a:avLst/>
          </a:prstGeom>
          <a:noFill/>
        </p:spPr>
        <p:txBody>
          <a:bodyPr wrap="square" anchor="t">
            <a:spAutoFit/>
          </a:bodyPr>
          <a:lstStyle/>
          <a:p>
            <a:pPr algn="l">
              <a:spcAft>
                <a:spcPts val="600"/>
              </a:spcAft>
            </a:pPr>
            <a:r>
              <a:rPr sz="2600" b="1">
                <a:solidFill>
                  <a:srgbClr val="E07A1F"/>
                </a:solidFill>
              </a:rPr>
              <a:t>4</a:t>
            </a:r>
          </a:p>
        </p:txBody>
      </p:sp>
      <p:sp>
        <p:nvSpPr>
          <p:cNvPr id="23" name="TextBox 22"/>
          <p:cNvSpPr txBox="1"/>
          <p:nvPr/>
        </p:nvSpPr>
        <p:spPr>
          <a:xfrm>
            <a:off x="9326880" y="2057400"/>
            <a:ext cx="2377440" cy="457200"/>
          </a:xfrm>
          <a:prstGeom prst="rect">
            <a:avLst/>
          </a:prstGeom>
          <a:noFill/>
        </p:spPr>
        <p:txBody>
          <a:bodyPr wrap="square" anchor="t">
            <a:spAutoFit/>
          </a:bodyPr>
          <a:lstStyle/>
          <a:p>
            <a:pPr algn="l">
              <a:spcAft>
                <a:spcPts val="600"/>
              </a:spcAft>
            </a:pPr>
            <a:r>
              <a:rPr sz="1600" b="1">
                <a:solidFill>
                  <a:srgbClr val="1F3A5F"/>
                </a:solidFill>
              </a:rPr>
              <a:t>Still invalid or worse NCP?</a:t>
            </a:r>
          </a:p>
        </p:txBody>
      </p:sp>
      <p:sp>
        <p:nvSpPr>
          <p:cNvPr id="24" name="TextBox 23"/>
          <p:cNvSpPr txBox="1"/>
          <p:nvPr/>
        </p:nvSpPr>
        <p:spPr>
          <a:xfrm>
            <a:off x="9326880" y="2514600"/>
            <a:ext cx="2377440" cy="1097280"/>
          </a:xfrm>
          <a:prstGeom prst="rect">
            <a:avLst/>
          </a:prstGeom>
          <a:noFill/>
        </p:spPr>
        <p:txBody>
          <a:bodyPr wrap="square" anchor="t">
            <a:spAutoFit/>
          </a:bodyPr>
          <a:lstStyle/>
          <a:p>
            <a:pPr algn="l">
              <a:spcAft>
                <a:spcPts val="600"/>
              </a:spcAft>
            </a:pPr>
            <a:r>
              <a:rPr sz="1300" b="0">
                <a:solidFill>
                  <a:srgbClr val="595959"/>
                </a:solidFill>
              </a:rPr>
              <a:t>then keep P as one EC</a:t>
            </a:r>
          </a:p>
        </p:txBody>
      </p:sp>
      <p:sp>
        <p:nvSpPr>
          <p:cNvPr id="25" name="TextBox 24"/>
          <p:cNvSpPr txBox="1"/>
          <p:nvPr/>
        </p:nvSpPr>
        <p:spPr>
          <a:xfrm>
            <a:off x="548640" y="3931920"/>
            <a:ext cx="5486400" cy="365760"/>
          </a:xfrm>
          <a:prstGeom prst="rect">
            <a:avLst/>
          </a:prstGeom>
          <a:noFill/>
        </p:spPr>
        <p:txBody>
          <a:bodyPr wrap="square" anchor="t">
            <a:spAutoFit/>
          </a:bodyPr>
          <a:lstStyle/>
          <a:p>
            <a:pPr algn="l">
              <a:spcAft>
                <a:spcPts val="600"/>
              </a:spcAft>
            </a:pPr>
            <a:r>
              <a:rPr sz="1600" b="1">
                <a:solidFill>
                  <a:srgbClr val="1F3A5F"/>
                </a:solidFill>
              </a:rPr>
              <a:t>Supported l-diversity types</a:t>
            </a:r>
          </a:p>
        </p:txBody>
      </p:sp>
      <p:sp>
        <p:nvSpPr>
          <p:cNvPr id="26" name="TextBox 25"/>
          <p:cNvSpPr txBox="1"/>
          <p:nvPr/>
        </p:nvSpPr>
        <p:spPr>
          <a:xfrm>
            <a:off x="548640" y="4389120"/>
            <a:ext cx="5760720" cy="1828800"/>
          </a:xfrm>
          <a:prstGeom prst="rect">
            <a:avLst/>
          </a:prstGeom>
          <a:noFill/>
        </p:spPr>
        <p:txBody>
          <a:bodyPr wrap="square">
            <a:spAutoFit/>
          </a:bodyPr>
          <a:lstStyle/>
          <a:p>
            <a:pPr>
              <a:spcAft>
                <a:spcPts val="900"/>
              </a:spcAft>
            </a:pPr>
            <a:r>
              <a:rPr sz="1600">
                <a:solidFill>
                  <a:srgbClr val="595959"/>
                </a:solidFill>
              </a:rPr>
              <a:t>•  distinct: at least l different values</a:t>
            </a:r>
          </a:p>
          <a:p>
            <a:pPr>
              <a:spcAft>
                <a:spcPts val="900"/>
              </a:spcAft>
            </a:pPr>
            <a:r>
              <a:rPr sz="1600">
                <a:solidFill>
                  <a:srgbClr val="595959"/>
                </a:solidFill>
              </a:rPr>
              <a:t>•  entropy: H(SA) &gt;= log(l)</a:t>
            </a:r>
          </a:p>
          <a:p>
            <a:pPr>
              <a:spcAft>
                <a:spcPts val="900"/>
              </a:spcAft>
            </a:pPr>
            <a:r>
              <a:rPr sz="1600">
                <a:solidFill>
                  <a:srgbClr val="595959"/>
                </a:solidFill>
              </a:rPr>
              <a:t>•  recursive (c, l): r1 &lt; c (rl + ... + rm)</a:t>
            </a:r>
          </a:p>
        </p:txBody>
      </p:sp>
      <p:sp>
        <p:nvSpPr>
          <p:cNvPr id="27" name="TextBox 26"/>
          <p:cNvSpPr txBox="1"/>
          <p:nvPr/>
        </p:nvSpPr>
        <p:spPr>
          <a:xfrm>
            <a:off x="6583680" y="3931920"/>
            <a:ext cx="5120640" cy="365760"/>
          </a:xfrm>
          <a:prstGeom prst="rect">
            <a:avLst/>
          </a:prstGeom>
          <a:noFill/>
        </p:spPr>
        <p:txBody>
          <a:bodyPr wrap="square" anchor="t">
            <a:spAutoFit/>
          </a:bodyPr>
          <a:lstStyle/>
          <a:p>
            <a:pPr algn="l">
              <a:spcAft>
                <a:spcPts val="600"/>
              </a:spcAft>
            </a:pPr>
            <a:r>
              <a:rPr sz="1600" b="1">
                <a:solidFill>
                  <a:srgbClr val="1F3A5F"/>
                </a:solidFill>
              </a:rPr>
              <a:t>Usage</a:t>
            </a:r>
          </a:p>
        </p:txBody>
      </p:sp>
      <p:sp>
        <p:nvSpPr>
          <p:cNvPr id="28" name="Rectangle 27"/>
          <p:cNvSpPr/>
          <p:nvPr/>
        </p:nvSpPr>
        <p:spPr>
          <a:xfrm>
            <a:off x="6583680" y="4389120"/>
            <a:ext cx="5120640" cy="13716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E8E8E8"/>
                </a:solidFill>
                <a:latin typeface="Consolas"/>
              </a:rPr>
              <a:t>python anonymize.py</a:t>
            </a:r>
          </a:p>
          <a:p>
            <a:pPr algn="l"/>
            <a:r>
              <a:rPr sz="1400">
                <a:solidFill>
                  <a:srgbClr val="E8E8E8"/>
                </a:solidFill>
                <a:latin typeface="Consolas"/>
              </a:rPr>
              <a:t>  --method=topdown_ldiv --k=10</a:t>
            </a:r>
          </a:p>
          <a:p>
            <a:pPr algn="l"/>
            <a:r>
              <a:rPr sz="1400">
                <a:solidFill>
                  <a:srgbClr val="E8E8E8"/>
                </a:solidFill>
                <a:latin typeface="Consolas"/>
              </a:rPr>
              <a:t>  --l=2 --dataset=cahousing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Experimental setup</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5</a:t>
            </a:r>
          </a:p>
        </p:txBody>
      </p:sp>
      <p:sp>
        <p:nvSpPr>
          <p:cNvPr id="6" name="TextBox 5"/>
          <p:cNvSpPr txBox="1"/>
          <p:nvPr/>
        </p:nvSpPr>
        <p:spPr>
          <a:xfrm>
            <a:off x="548640" y="1371600"/>
            <a:ext cx="5760720" cy="4754880"/>
          </a:xfrm>
          <a:prstGeom prst="rect">
            <a:avLst/>
          </a:prstGeom>
          <a:noFill/>
        </p:spPr>
        <p:txBody>
          <a:bodyPr wrap="square">
            <a:spAutoFit/>
          </a:bodyPr>
          <a:lstStyle/>
          <a:p>
            <a:pPr>
              <a:spcAft>
                <a:spcPts val="900"/>
              </a:spcAft>
            </a:pPr>
            <a:r>
              <a:rPr sz="1600">
                <a:solidFill>
                  <a:srgbClr val="595959"/>
                </a:solidFill>
              </a:rPr>
              <a:t>•  cahousing, 20,640 districts</a:t>
            </a:r>
          </a:p>
          <a:p>
            <a:pPr>
              <a:spcAft>
                <a:spcPts val="900"/>
              </a:spcAft>
            </a:pPr>
            <a:r>
              <a:rPr sz="1600">
                <a:solidFill>
                  <a:srgbClr val="595959"/>
                </a:solidFill>
              </a:rPr>
              <a:t>•  5 QIs: longitude, latitude, housing_median_age, median_income, median_house_value</a:t>
            </a:r>
          </a:p>
          <a:p>
            <a:pPr>
              <a:spcAft>
                <a:spcPts val="900"/>
              </a:spcAft>
            </a:pPr>
            <a:r>
              <a:rPr sz="1600">
                <a:solidFill>
                  <a:srgbClr val="595959"/>
                </a:solidFill>
              </a:rPr>
              <a:t>•  SA: ocean_proximity, 3 values (4,953 / 9,136 / 6,551)</a:t>
            </a:r>
          </a:p>
          <a:p>
            <a:pPr lvl="1">
              <a:spcAft>
                <a:spcPts val="400"/>
              </a:spcAft>
            </a:pPr>
            <a:r>
              <a:rPr sz="1300">
                <a:solidFill>
                  <a:srgbClr val="595959"/>
                </a:solidFill>
              </a:rPr>
              <a:t>–  same column is the classification target</a:t>
            </a:r>
          </a:p>
          <a:p>
            <a:pPr lvl="1">
              <a:spcAft>
                <a:spcPts val="400"/>
              </a:spcAft>
            </a:pPr>
            <a:r>
              <a:rPr sz="1300">
                <a:solidFill>
                  <a:srgbClr val="595959"/>
                </a:solidFill>
              </a:rPr>
              <a:t>–  only l = 2, 3 possible, entropy l = 3 impossible</a:t>
            </a:r>
          </a:p>
          <a:p>
            <a:pPr>
              <a:spcAft>
                <a:spcPts val="900"/>
              </a:spcAft>
            </a:pPr>
            <a:r>
              <a:rPr sz="1600">
                <a:solidFill>
                  <a:srgbClr val="595959"/>
                </a:solidFill>
              </a:rPr>
              <a:t>•  Metrics: NCP, DM, CAVG, #ECs</a:t>
            </a:r>
          </a:p>
          <a:p>
            <a:pPr>
              <a:spcAft>
                <a:spcPts val="900"/>
              </a:spcAft>
            </a:pPr>
            <a:r>
              <a:rPr sz="1600">
                <a:solidFill>
                  <a:srgbClr val="595959"/>
                </a:solidFill>
              </a:rPr>
              <a:t>•  Privacy: homogeneous ECs, majority share</a:t>
            </a:r>
          </a:p>
          <a:p>
            <a:pPr>
              <a:spcAft>
                <a:spcPts val="900"/>
              </a:spcAft>
            </a:pPr>
            <a:r>
              <a:rPr sz="1600">
                <a:solidFill>
                  <a:srgbClr val="595959"/>
                </a:solidFill>
              </a:rPr>
              <a:t>•  KNN, SVM, RF predict ocean_proximity (80/20, weighted F1)</a:t>
            </a:r>
          </a:p>
        </p:txBody>
      </p:sp>
      <p:sp>
        <p:nvSpPr>
          <p:cNvPr id="7" name="Rectangle 6"/>
          <p:cNvSpPr/>
          <p:nvPr/>
        </p:nvSpPr>
        <p:spPr>
          <a:xfrm>
            <a:off x="6766560" y="1463040"/>
            <a:ext cx="822960"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B</a:t>
            </a:r>
          </a:p>
        </p:txBody>
      </p:sp>
      <p:sp>
        <p:nvSpPr>
          <p:cNvPr id="8" name="Rectangle 7"/>
          <p:cNvSpPr/>
          <p:nvPr/>
        </p:nvSpPr>
        <p:spPr>
          <a:xfrm>
            <a:off x="7589520" y="1463040"/>
            <a:ext cx="4023360" cy="12344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595959"/>
                </a:solidFill>
              </a:rPr>
              <a:t>k = 2 ... 100</a:t>
            </a:r>
          </a:p>
          <a:p>
            <a:pPr algn="ctr"/>
            <a:r>
              <a:rPr sz="1500" b="0">
                <a:solidFill>
                  <a:srgbClr val="595959"/>
                </a:solidFill>
              </a:rPr>
              <a:t>TDG vs. distinct l = 2, l = 3, entropy l = 2</a:t>
            </a:r>
          </a:p>
        </p:txBody>
      </p:sp>
      <p:sp>
        <p:nvSpPr>
          <p:cNvPr id="9" name="Rectangle 8"/>
          <p:cNvSpPr/>
          <p:nvPr/>
        </p:nvSpPr>
        <p:spPr>
          <a:xfrm>
            <a:off x="6766560" y="2971800"/>
            <a:ext cx="822960"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C</a:t>
            </a:r>
          </a:p>
        </p:txBody>
      </p:sp>
      <p:sp>
        <p:nvSpPr>
          <p:cNvPr id="10" name="Rectangle 9"/>
          <p:cNvSpPr/>
          <p:nvPr/>
        </p:nvSpPr>
        <p:spPr>
          <a:xfrm>
            <a:off x="7589520" y="2971800"/>
            <a:ext cx="4023360" cy="12344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595959"/>
                </a:solidFill>
              </a:rPr>
              <a:t>k = 2, 10 and l = 2, 3</a:t>
            </a:r>
          </a:p>
          <a:p>
            <a:pPr algn="ctr"/>
            <a:r>
              <a:rPr sz="1500" b="0">
                <a:solidFill>
                  <a:srgbClr val="595959"/>
                </a:solidFill>
              </a:rPr>
              <a:t>reject vs. retry (10x) vs. repair</a:t>
            </a:r>
          </a:p>
        </p:txBody>
      </p:sp>
      <p:sp>
        <p:nvSpPr>
          <p:cNvPr id="11" name="Rectangle 10"/>
          <p:cNvSpPr/>
          <p:nvPr/>
        </p:nvSpPr>
        <p:spPr>
          <a:xfrm>
            <a:off x="6766560" y="4480560"/>
            <a:ext cx="822960"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R</a:t>
            </a:r>
          </a:p>
        </p:txBody>
      </p:sp>
      <p:sp>
        <p:nvSpPr>
          <p:cNvPr id="12" name="Rectangle 11"/>
          <p:cNvSpPr/>
          <p:nvPr/>
        </p:nvSpPr>
        <p:spPr>
          <a:xfrm>
            <a:off x="7589520" y="4480560"/>
            <a:ext cx="4023360" cy="12344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595959"/>
                </a:solidFill>
              </a:rPr>
              <a:t>recursive (c = 2, l = 2, 3)</a:t>
            </a:r>
          </a:p>
          <a:p>
            <a:pPr algn="ctr"/>
            <a:r>
              <a:rPr sz="1500" b="0">
                <a:solidFill>
                  <a:srgbClr val="595959"/>
                </a:solidFill>
              </a:rPr>
              <a:t>at k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No homogeneous ECs, but distinct l is weak here</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6</a:t>
            </a:r>
          </a:p>
        </p:txBody>
      </p:sp>
      <p:pic>
        <p:nvPicPr>
          <p:cNvPr id="6" name="Picture 5" descr="cahousing_privacy_vs_k.png"/>
          <p:cNvPicPr>
            <a:picLocks noChangeAspect="1"/>
          </p:cNvPicPr>
          <p:nvPr/>
        </p:nvPicPr>
        <p:blipFill>
          <a:blip r:embed="rId3"/>
          <a:stretch>
            <a:fillRect/>
          </a:stretch>
        </p:blipFill>
        <p:spPr>
          <a:xfrm>
            <a:off x="457200" y="1325880"/>
            <a:ext cx="11247120" cy="3280410"/>
          </a:xfrm>
          <a:prstGeom prst="rect">
            <a:avLst/>
          </a:prstGeom>
        </p:spPr>
      </p:pic>
      <p:sp>
        <p:nvSpPr>
          <p:cNvPr id="7" name="TextBox 6"/>
          <p:cNvSpPr txBox="1"/>
          <p:nvPr/>
        </p:nvSpPr>
        <p:spPr>
          <a:xfrm>
            <a:off x="548640" y="5394960"/>
            <a:ext cx="11155680" cy="914400"/>
          </a:xfrm>
          <a:prstGeom prst="rect">
            <a:avLst/>
          </a:prstGeom>
          <a:noFill/>
        </p:spPr>
        <p:txBody>
          <a:bodyPr wrap="square" anchor="t">
            <a:spAutoFit/>
          </a:bodyPr>
          <a:lstStyle/>
          <a:p>
            <a:pPr algn="l">
              <a:spcAft>
                <a:spcPts val="600"/>
              </a:spcAft>
            </a:pPr>
            <a:r>
              <a:rPr sz="1600" b="1">
                <a:solidFill>
                  <a:srgbClr val="3C8D5A"/>
                </a:solidFill>
              </a:rPr>
              <a:t>TDG + l: 0 homogeneous ECs in every run. </a:t>
            </a:r>
            <a:r>
              <a:rPr sz="1600" b="0">
                <a:solidFill>
                  <a:srgbClr val="595959"/>
                </a:solidFill>
              </a:rPr>
              <a:t>But majority guess still right for 87% (distinct l = 2), 81% (l = 3), 61% (entropy l = 2) at k = 10. Without QIs: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Information loss</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7</a:t>
            </a:r>
          </a:p>
        </p:txBody>
      </p:sp>
      <p:pic>
        <p:nvPicPr>
          <p:cNvPr id="6" name="Picture 5" descr="cahousing_info_vs_k.png"/>
          <p:cNvPicPr>
            <a:picLocks noChangeAspect="1"/>
          </p:cNvPicPr>
          <p:nvPr/>
        </p:nvPicPr>
        <p:blipFill>
          <a:blip r:embed="rId3"/>
          <a:stretch>
            <a:fillRect/>
          </a:stretch>
        </p:blipFill>
        <p:spPr>
          <a:xfrm>
            <a:off x="457200" y="1325880"/>
            <a:ext cx="11247120" cy="3280410"/>
          </a:xfrm>
          <a:prstGeom prst="rect">
            <a:avLst/>
          </a:prstGeom>
        </p:spPr>
      </p:pic>
      <p:sp>
        <p:nvSpPr>
          <p:cNvPr id="7" name="TextBox 6"/>
          <p:cNvSpPr txBox="1"/>
          <p:nvPr/>
        </p:nvSpPr>
        <p:spPr>
          <a:xfrm>
            <a:off x="548640" y="5349240"/>
            <a:ext cx="11155680" cy="1097280"/>
          </a:xfrm>
          <a:prstGeom prst="rect">
            <a:avLst/>
          </a:prstGeom>
          <a:noFill/>
        </p:spPr>
        <p:txBody>
          <a:bodyPr wrap="square">
            <a:spAutoFit/>
          </a:bodyPr>
          <a:lstStyle/>
          <a:p>
            <a:pPr>
              <a:spcAft>
                <a:spcPts val="900"/>
              </a:spcAft>
            </a:pPr>
            <a:r>
              <a:rPr sz="1500">
                <a:solidFill>
                  <a:srgbClr val="595959"/>
                </a:solidFill>
              </a:rPr>
              <a:t>•  distinct l = 2: NCP 0.16 -&gt; 0.32 (k = 2), 0.25 -&gt; 0.35 (k = 10); same NCP as plain TDG at k = 20 (0.32), which still leaks</a:t>
            </a:r>
          </a:p>
          <a:p>
            <a:pPr>
              <a:spcAft>
                <a:spcPts val="900"/>
              </a:spcAft>
            </a:pPr>
            <a:r>
              <a:rPr sz="1500">
                <a:solidFill>
                  <a:srgbClr val="595959"/>
                </a:solidFill>
              </a:rPr>
              <a:t>•  distinct l = 3 about 0.57, entropy l = 2 about 0.80, recursive (c = 2, l = 3): one single 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Repairing splits beats rejecting or retrying</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8</a:t>
            </a:r>
          </a:p>
        </p:txBody>
      </p:sp>
      <p:pic>
        <p:nvPicPr>
          <p:cNvPr id="6" name="Picture 5" descr="cahousing_strategies.png"/>
          <p:cNvPicPr>
            <a:picLocks noChangeAspect="1"/>
          </p:cNvPicPr>
          <p:nvPr/>
        </p:nvPicPr>
        <p:blipFill>
          <a:blip r:embed="rId3"/>
          <a:stretch>
            <a:fillRect/>
          </a:stretch>
        </p:blipFill>
        <p:spPr>
          <a:xfrm>
            <a:off x="457200" y="1371600"/>
            <a:ext cx="7498079" cy="2832608"/>
          </a:xfrm>
          <a:prstGeom prst="rect">
            <a:avLst/>
          </a:prstGeom>
        </p:spPr>
      </p:pic>
      <p:sp>
        <p:nvSpPr>
          <p:cNvPr id="7" name="Rectangle 6"/>
          <p:cNvSpPr/>
          <p:nvPr/>
        </p:nvSpPr>
        <p:spPr>
          <a:xfrm>
            <a:off x="8229600" y="1554480"/>
            <a:ext cx="3474720" cy="35661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0" y="1691640"/>
            <a:ext cx="3200400" cy="3383280"/>
          </a:xfrm>
          <a:prstGeom prst="rect">
            <a:avLst/>
          </a:prstGeom>
          <a:noFill/>
        </p:spPr>
        <p:txBody>
          <a:bodyPr wrap="square" anchor="t">
            <a:spAutoFit/>
          </a:bodyPr>
          <a:lstStyle/>
          <a:p>
            <a:pPr algn="l">
              <a:spcAft>
                <a:spcPts val="600"/>
              </a:spcAft>
            </a:pPr>
            <a:r>
              <a:rPr sz="1600" b="1">
                <a:solidFill>
                  <a:srgbClr val="1F3A5F"/>
                </a:solidFill>
              </a:rPr>
              <a:t>NCP at k = 2, l = 2</a:t>
            </a:r>
          </a:p>
          <a:p>
            <a:pPr algn="l">
              <a:spcAft>
                <a:spcPts val="600"/>
              </a:spcAft>
            </a:pPr>
            <a:r>
              <a:rPr sz="1600" b="0">
                <a:solidFill>
                  <a:srgbClr val="595959"/>
                </a:solidFill>
              </a:rPr>
              <a:t>reject  0.469</a:t>
            </a:r>
          </a:p>
          <a:p>
            <a:pPr algn="l">
              <a:spcAft>
                <a:spcPts val="600"/>
              </a:spcAft>
            </a:pPr>
            <a:r>
              <a:rPr sz="1600" b="0">
                <a:solidFill>
                  <a:srgbClr val="595959"/>
                </a:solidFill>
              </a:rPr>
              <a:t>retry   0.421</a:t>
            </a:r>
          </a:p>
          <a:p>
            <a:pPr algn="l">
              <a:spcAft>
                <a:spcPts val="600"/>
              </a:spcAft>
            </a:pPr>
            <a:r>
              <a:rPr sz="1600" b="1">
                <a:solidFill>
                  <a:srgbClr val="3C8D5A"/>
                </a:solidFill>
              </a:rPr>
              <a:t>repair  0.319</a:t>
            </a:r>
          </a:p>
          <a:p>
            <a:pPr algn="l">
              <a:spcAft>
                <a:spcPts val="600"/>
              </a:spcAft>
            </a:pPr>
            <a:r>
              <a:rPr sz="1600" b="0">
                <a:solidFill>
                  <a:srgbClr val="595959"/>
                </a:solidFill>
              </a:rPr>
              <a:t/>
            </a:r>
          </a:p>
          <a:p>
            <a:pPr algn="l">
              <a:spcAft>
                <a:spcPts val="600"/>
              </a:spcAft>
            </a:pPr>
            <a:r>
              <a:rPr sz="1600" b="1">
                <a:solidFill>
                  <a:srgbClr val="1F3A5F"/>
                </a:solidFill>
              </a:rPr>
              <a:t>NCP at k = 10, l = 3</a:t>
            </a:r>
          </a:p>
          <a:p>
            <a:pPr algn="l">
              <a:spcAft>
                <a:spcPts val="600"/>
              </a:spcAft>
            </a:pPr>
            <a:r>
              <a:rPr sz="1600" b="0">
                <a:solidFill>
                  <a:srgbClr val="595959"/>
                </a:solidFill>
              </a:rPr>
              <a:t>reject  0.714</a:t>
            </a:r>
          </a:p>
          <a:p>
            <a:pPr algn="l">
              <a:spcAft>
                <a:spcPts val="600"/>
              </a:spcAft>
            </a:pPr>
            <a:r>
              <a:rPr sz="1600" b="0">
                <a:solidFill>
                  <a:srgbClr val="595959"/>
                </a:solidFill>
              </a:rPr>
              <a:t>retry   0.663</a:t>
            </a:r>
          </a:p>
          <a:p>
            <a:pPr algn="l">
              <a:spcAft>
                <a:spcPts val="600"/>
              </a:spcAft>
            </a:pPr>
            <a:r>
              <a:rPr sz="1600" b="1">
                <a:solidFill>
                  <a:srgbClr val="3C8D5A"/>
                </a:solidFill>
              </a:rPr>
              <a:t>repair  0.566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Classification: privacy and prediction collide</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9</a:t>
            </a:r>
          </a:p>
        </p:txBody>
      </p:sp>
      <p:pic>
        <p:nvPicPr>
          <p:cNvPr id="6" name="Picture 5" descr="cahousing_ml_vs_k.png"/>
          <p:cNvPicPr>
            <a:picLocks noChangeAspect="1"/>
          </p:cNvPicPr>
          <p:nvPr/>
        </p:nvPicPr>
        <p:blipFill>
          <a:blip r:embed="rId3"/>
          <a:stretch>
            <a:fillRect/>
          </a:stretch>
        </p:blipFill>
        <p:spPr>
          <a:xfrm>
            <a:off x="457200" y="1325880"/>
            <a:ext cx="11247120" cy="3280410"/>
          </a:xfrm>
          <a:prstGeom prst="rect">
            <a:avLst/>
          </a:prstGeom>
        </p:spPr>
      </p:pic>
      <p:sp>
        <p:nvSpPr>
          <p:cNvPr id="7" name="TextBox 6"/>
          <p:cNvSpPr txBox="1"/>
          <p:nvPr/>
        </p:nvSpPr>
        <p:spPr>
          <a:xfrm>
            <a:off x="548640" y="5394960"/>
            <a:ext cx="11155680" cy="914400"/>
          </a:xfrm>
          <a:prstGeom prst="rect">
            <a:avLst/>
          </a:prstGeom>
          <a:noFill/>
        </p:spPr>
        <p:txBody>
          <a:bodyPr wrap="square" anchor="t">
            <a:spAutoFit/>
          </a:bodyPr>
          <a:lstStyle/>
          <a:p>
            <a:pPr algn="l">
              <a:spcAft>
                <a:spcPts val="600"/>
              </a:spcAft>
            </a:pPr>
            <a:r>
              <a:rPr sz="1500" b="0">
                <a:solidFill>
                  <a:srgbClr val="595959"/>
                </a:solidFill>
              </a:rPr>
              <a:t>Weighted F1 (KNN / SVM / RF) at k = 10: </a:t>
            </a:r>
            <a:r>
              <a:rPr sz="1500" b="0">
                <a:solidFill>
                  <a:srgbClr val="595959"/>
                </a:solidFill>
              </a:rPr>
              <a:t>original 0.54 / 0.86 / 0.95, TDG 0.58 / 0.81 / 0.86, </a:t>
            </a:r>
            <a:r>
              <a:rPr sz="1500" b="1">
                <a:solidFill>
                  <a:srgbClr val="595959"/>
                </a:solidFill>
              </a:rPr>
              <a:t>l = 2 0.56 / 0.80 / 0.85</a:t>
            </a:r>
            <a:r>
              <a:rPr sz="1500" b="0">
                <a:solidFill>
                  <a:srgbClr val="595959"/>
                </a:solidFill>
              </a:rPr>
              <a:t>, l = 3 0.53 / 0.74 / 0.81, entropy 0.47 / 0.59 / 0.65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a:spAutoFit/>
          </a:bodyPr>
          <a:lstStyle/>
          <a:p>
            <a:pPr algn="l">
              <a:spcAft>
                <a:spcPts val="600"/>
              </a:spcAft>
            </a:pPr>
            <a:r>
              <a:rPr sz="3000" b="1">
                <a:solidFill>
                  <a:srgbClr val="1F3A5F"/>
                </a:solidFill>
              </a:rPr>
              <a:t>Conclusion</a:t>
            </a:r>
          </a:p>
        </p:txBody>
      </p:sp>
      <p:cxnSp>
        <p:nvCxnSpPr>
          <p:cNvPr id="3" name="Connector 2"/>
          <p:cNvCxnSpPr/>
          <p:nvPr/>
        </p:nvCxnSpPr>
        <p:spPr>
          <a:xfrm>
            <a:off x="548640" y="1051560"/>
            <a:ext cx="1645920" cy="0"/>
          </a:xfrm>
          <a:prstGeom prst="line">
            <a:avLst/>
          </a:prstGeom>
          <a:ln w="38100">
            <a:solidFill>
              <a:srgbClr val="E07A1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7315200" cy="320040"/>
          </a:xfrm>
          <a:prstGeom prst="rect">
            <a:avLst/>
          </a:prstGeom>
          <a:noFill/>
        </p:spPr>
        <p:txBody>
          <a:bodyPr wrap="square" anchor="t">
            <a:spAutoFit/>
          </a:bodyPr>
          <a:lstStyle/>
          <a:p>
            <a:pPr algn="l">
              <a:spcAft>
                <a:spcPts val="600"/>
              </a:spcAft>
            </a:pPr>
            <a:r>
              <a:rPr sz="1000" b="0">
                <a:solidFill>
                  <a:srgbClr val="595959"/>
                </a:solidFill>
              </a:rPr>
              <a:t>Schwabe, Zylja  |  SPAI 2026, Exercise 1.2</a:t>
            </a:r>
          </a:p>
        </p:txBody>
      </p:sp>
      <p:sp>
        <p:nvSpPr>
          <p:cNvPr id="5" name="TextBox 4"/>
          <p:cNvSpPr txBox="1"/>
          <p:nvPr/>
        </p:nvSpPr>
        <p:spPr>
          <a:xfrm>
            <a:off x="10972800" y="6400800"/>
            <a:ext cx="731520" cy="320040"/>
          </a:xfrm>
          <a:prstGeom prst="rect">
            <a:avLst/>
          </a:prstGeom>
          <a:noFill/>
        </p:spPr>
        <p:txBody>
          <a:bodyPr wrap="square" anchor="t">
            <a:spAutoFit/>
          </a:bodyPr>
          <a:lstStyle/>
          <a:p>
            <a:pPr algn="r">
              <a:spcAft>
                <a:spcPts val="600"/>
              </a:spcAft>
            </a:pPr>
            <a:r>
              <a:rPr sz="1000" b="0">
                <a:solidFill>
                  <a:srgbClr val="595959"/>
                </a:solidFill>
              </a:rPr>
              <a:t>10</a:t>
            </a:r>
          </a:p>
        </p:txBody>
      </p:sp>
      <p:sp>
        <p:nvSpPr>
          <p:cNvPr id="6" name="TextBox 5"/>
          <p:cNvSpPr txBox="1"/>
          <p:nvPr/>
        </p:nvSpPr>
        <p:spPr>
          <a:xfrm>
            <a:off x="548640" y="1371600"/>
            <a:ext cx="5486400" cy="365760"/>
          </a:xfrm>
          <a:prstGeom prst="rect">
            <a:avLst/>
          </a:prstGeom>
          <a:noFill/>
        </p:spPr>
        <p:txBody>
          <a:bodyPr wrap="square" anchor="t">
            <a:spAutoFit/>
          </a:bodyPr>
          <a:lstStyle/>
          <a:p>
            <a:pPr algn="l">
              <a:spcAft>
                <a:spcPts val="600"/>
              </a:spcAft>
            </a:pPr>
            <a:r>
              <a:rPr sz="1800" b="1">
                <a:solidFill>
                  <a:srgbClr val="1F3A5F"/>
                </a:solidFill>
              </a:rPr>
              <a:t>What we found</a:t>
            </a:r>
          </a:p>
        </p:txBody>
      </p:sp>
      <p:sp>
        <p:nvSpPr>
          <p:cNvPr id="7" name="TextBox 6"/>
          <p:cNvSpPr txBox="1"/>
          <p:nvPr/>
        </p:nvSpPr>
        <p:spPr>
          <a:xfrm>
            <a:off x="548640" y="1828800"/>
            <a:ext cx="5486400" cy="4114800"/>
          </a:xfrm>
          <a:prstGeom prst="rect">
            <a:avLst/>
          </a:prstGeom>
          <a:noFill/>
        </p:spPr>
        <p:txBody>
          <a:bodyPr wrap="square">
            <a:spAutoFit/>
          </a:bodyPr>
          <a:lstStyle/>
          <a:p>
            <a:pPr>
              <a:spcAft>
                <a:spcPts val="900"/>
              </a:spcAft>
            </a:pPr>
            <a:r>
              <a:rPr sz="1700">
                <a:solidFill>
                  <a:srgbClr val="595959"/>
                </a:solidFill>
              </a:rPr>
              <a:t>•  TDG + l-diversity: 0 violations in all runs</a:t>
            </a:r>
          </a:p>
          <a:p>
            <a:pPr>
              <a:spcAft>
                <a:spcPts val="900"/>
              </a:spcAft>
            </a:pPr>
            <a:r>
              <a:rPr sz="1700">
                <a:solidFill>
                  <a:srgbClr val="595959"/>
                </a:solidFill>
              </a:rPr>
              <a:t>•  repairing splits gives the lowest NCP</a:t>
            </a:r>
          </a:p>
          <a:p>
            <a:pPr>
              <a:spcAft>
                <a:spcPts val="900"/>
              </a:spcAft>
            </a:pPr>
            <a:r>
              <a:rPr sz="1700">
                <a:solidFill>
                  <a:srgbClr val="595959"/>
                </a:solidFill>
              </a:rPr>
              <a:t>•  better than raising k at the same information loss</a:t>
            </a:r>
          </a:p>
          <a:p>
            <a:pPr>
              <a:spcAft>
                <a:spcPts val="900"/>
              </a:spcAft>
            </a:pPr>
            <a:r>
              <a:rPr sz="1700">
                <a:solidFill>
                  <a:srgbClr val="595959"/>
                </a:solidFill>
              </a:rPr>
              <a:t>•  distinct l = 2 only removes certainty, majority guess still mostly right</a:t>
            </a:r>
          </a:p>
          <a:p>
            <a:pPr>
              <a:spcAft>
                <a:spcPts val="900"/>
              </a:spcAft>
            </a:pPr>
            <a:r>
              <a:rPr sz="1700">
                <a:solidFill>
                  <a:srgbClr val="595959"/>
                </a:solidFill>
              </a:rPr>
              <a:t>•  entropy l protects, but costs a lot of utility</a:t>
            </a:r>
          </a:p>
        </p:txBody>
      </p:sp>
      <p:sp>
        <p:nvSpPr>
          <p:cNvPr id="8" name="TextBox 7"/>
          <p:cNvSpPr txBox="1"/>
          <p:nvPr/>
        </p:nvSpPr>
        <p:spPr>
          <a:xfrm>
            <a:off x="6400800" y="1371600"/>
            <a:ext cx="5486400" cy="365760"/>
          </a:xfrm>
          <a:prstGeom prst="rect">
            <a:avLst/>
          </a:prstGeom>
          <a:noFill/>
        </p:spPr>
        <p:txBody>
          <a:bodyPr wrap="square" anchor="t">
            <a:spAutoFit/>
          </a:bodyPr>
          <a:lstStyle/>
          <a:p>
            <a:pPr algn="l">
              <a:spcAft>
                <a:spcPts val="600"/>
              </a:spcAft>
            </a:pPr>
            <a:r>
              <a:rPr sz="1800" b="1">
                <a:solidFill>
                  <a:srgbClr val="1F3A5F"/>
                </a:solidFill>
              </a:rPr>
              <a:t>Limitations / next steps</a:t>
            </a:r>
          </a:p>
        </p:txBody>
      </p:sp>
      <p:sp>
        <p:nvSpPr>
          <p:cNvPr id="9" name="TextBox 8"/>
          <p:cNvSpPr txBox="1"/>
          <p:nvPr/>
        </p:nvSpPr>
        <p:spPr>
          <a:xfrm>
            <a:off x="6400800" y="1828800"/>
            <a:ext cx="5303520" cy="4114800"/>
          </a:xfrm>
          <a:prstGeom prst="rect">
            <a:avLst/>
          </a:prstGeom>
          <a:noFill/>
        </p:spPr>
        <p:txBody>
          <a:bodyPr wrap="square">
            <a:spAutoFit/>
          </a:bodyPr>
          <a:lstStyle/>
          <a:p>
            <a:pPr>
              <a:spcAft>
                <a:spcPts val="900"/>
              </a:spcAft>
            </a:pPr>
            <a:r>
              <a:rPr sz="1700">
                <a:solidFill>
                  <a:srgbClr val="595959"/>
                </a:solidFill>
              </a:rPr>
              <a:t>•  only 3 SA values, SA = target</a:t>
            </a:r>
          </a:p>
          <a:p>
            <a:pPr>
              <a:spcAft>
                <a:spcPts val="900"/>
              </a:spcAft>
            </a:pPr>
            <a:r>
              <a:rPr sz="1700">
                <a:solidFill>
                  <a:srgbClr val="595959"/>
                </a:solidFill>
              </a:rPr>
              <a:t>•  greedy repair, not optimal</a:t>
            </a:r>
          </a:p>
          <a:p>
            <a:pPr>
              <a:spcAft>
                <a:spcPts val="900"/>
              </a:spcAft>
            </a:pPr>
            <a:r>
              <a:rPr sz="1700">
                <a:solidFill>
                  <a:srgbClr val="595959"/>
                </a:solidFill>
              </a:rPr>
              <a:t>•  skewness / similarity attacks -&gt; t-closeness</a:t>
            </a:r>
          </a:p>
          <a:p>
            <a:pPr>
              <a:spcAft>
                <a:spcPts val="900"/>
              </a:spcAft>
            </a:pPr>
            <a:r>
              <a:rPr sz="1700">
                <a:solidFill>
                  <a:srgbClr val="595959"/>
                </a:solidFill>
              </a:rPr>
              <a:t>•  whole table must already be l-diverse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698480" cy="1097280"/>
          </a:xfrm>
          <a:prstGeom prst="rect">
            <a:avLst/>
          </a:prstGeom>
          <a:noFill/>
        </p:spPr>
        <p:txBody>
          <a:bodyPr wrap="square" anchor="t">
            <a:spAutoFit/>
          </a:bodyPr>
          <a:lstStyle/>
          <a:p>
            <a:pPr algn="ctr">
              <a:spcAft>
                <a:spcPts val="600"/>
              </a:spcAft>
            </a:pPr>
            <a:r>
              <a:rPr sz="4000" b="1">
                <a:solidFill>
                  <a:srgbClr val="FFFFFF"/>
                </a:solidFill>
              </a:rPr>
              <a:t>Thank you! Questions?</a:t>
            </a:r>
          </a:p>
        </p:txBody>
      </p:sp>
      <p:sp>
        <p:nvSpPr>
          <p:cNvPr id="4" name="TextBox 3"/>
          <p:cNvSpPr txBox="1"/>
          <p:nvPr/>
        </p:nvSpPr>
        <p:spPr>
          <a:xfrm>
            <a:off x="731520" y="3657600"/>
            <a:ext cx="10698480" cy="548640"/>
          </a:xfrm>
          <a:prstGeom prst="rect">
            <a:avLst/>
          </a:prstGeom>
          <a:noFill/>
        </p:spPr>
        <p:txBody>
          <a:bodyPr wrap="square" anchor="t">
            <a:spAutoFit/>
          </a:bodyPr>
          <a:lstStyle/>
          <a:p>
            <a:pPr algn="ctr">
              <a:spcAft>
                <a:spcPts val="600"/>
              </a:spcAft>
            </a:pPr>
            <a:r>
              <a:rPr sz="1600" b="0">
                <a:solidFill>
                  <a:srgbClr val="D6DFEA"/>
                </a:solidFill>
              </a:rPr>
              <a:t>Code: algorithms/top_down_greedy, compare_topdown.py, demo_topdown.py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