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58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1920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Short intro: who we are, we did task 1.2 with Top-Down Greedy on cahousing.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Example from cahousing, original TDG with k = 10. The table is 10-anonymous, but if I know where a district is and roughly its income and house value, I know its ocean proximity for sure. The reason is that ocean proximity basically follows from longitude and latitude.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Quick recap of how TDG works, because our change is inside the split step. Important: the split only looks at QI distance (NCP), the sensitive attribute is ignored completely.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main contribution. A split is only kept if both halves are k-anonymous AND l-diverse. If one half fails, we do not throw the split away directly but take records from the other half that bring in the missing occupations. Without l (l = 0) the original code path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cahousing is the dataset from the toolbox. ocean_proximity has only three values and is also the class the toolbox predicts, so l can only be 2 or 3. We also compare three ways of handling bad splits.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Left and middle: the original TDG has a lot of homogeneous ECs, ours has none. Right: how often you are right if you guess the most frequent value of the EC. Distinct l = 2 still 87% at k = 10, because the ECs are very skewed, e.g. 393 vs. 2 districts. Only entropy l brings it close to the 44% you get without any QI.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Distinct l = 2 doubles the NCP at k = 2, but the gap closes with larger k. And compared at the same NCP it is better than just raising k: TDG at k = 20 has a similar NCP and still 7,255 districts in homogeneous ECs.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Retry was our first idea: try up to 10 new random splits. It helps a bit, but a new random split has the same problem because the SA is ignored. The repair moves a few records with the missing values and gives the lowest NCP in all four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</a:rPr>
              <a:t>l-Diversity for Top-Down Greedy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D6DFEA"/>
                </a:solidFill>
              </a:rPr>
              <a:t>Extending the existing k-anonymity implementation with distinct l-diversity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46120"/>
            <a:ext cx="146304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</a:rPr>
              <a:t>Lara Schwabe, Livia Zylja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</a:rPr>
              <a:t>SPAI 2026, Exercise 1.2 (Anonymisation)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</a:rPr>
              <a:t>Why l-diversity?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645920" cy="0"/>
          </a:xfrm>
          <a:prstGeom prst="line">
            <a:avLst/>
          </a:prstGeom>
          <a:ln w="38100">
            <a:solidFill>
              <a:srgbClr val="E07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Schwabe, Zylja  |  SPAI 2026, Exercise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0350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595959"/>
                </a:solidFill>
              </a:rPr>
              <a:t>•  k-anonymity requires at least k records to share the same quasi-identifiers.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595959"/>
                </a:solidFill>
              </a:rPr>
              <a:t>•  But all records in an equivalence class may still share the same sensitive value.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595959"/>
                </a:solidFill>
              </a:rPr>
              <a:t>•  This can reveal sensitive information even though the data is k-anonymous.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07A1F"/>
                </a:solidFill>
              </a:rPr>
              <a:t>Evaluate the privacy–utility trade-off using information loss and classification performance.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417320"/>
            <a:ext cx="4480560" cy="16002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1554480"/>
            <a:ext cx="4114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</a:rPr>
              <a:t>Our goal: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</a:rPr>
              <a:t>enforce both |EC| ≥ k and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</a:rPr>
              <a:t>at least l distinct sensitive values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3246120"/>
            <a:ext cx="2148840" cy="13716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9480" y="3383280"/>
            <a:ext cx="1920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</a:rPr>
              <a:t>Sensitive attribute: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E07A1F"/>
                </a:solidFill>
              </a:rPr>
              <a:t>ocean_proximity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3246120"/>
            <a:ext cx="2148840" cy="13716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0" y="3383280"/>
            <a:ext cx="1920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</a:rPr>
              <a:t>Dataset: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E07A1F"/>
                </a:solidFill>
              </a:rPr>
              <a:t>cahousing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</a:rPr>
              <a:t>Top-Down Greedy (baseline)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645920" cy="0"/>
          </a:xfrm>
          <a:prstGeom prst="line">
            <a:avLst/>
          </a:prstGeom>
          <a:ln w="38100">
            <a:solidFill>
              <a:srgbClr val="E07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Schwabe, Zylja  |  SPAI 2026, Exercise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8521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595959"/>
                </a:solidFill>
              </a:rPr>
              <a:t>•  Start with the full dataset as one partition.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595959"/>
                </a:solidFill>
              </a:rPr>
              <a:t>•  Choose two distant seed records using NCP-based distance.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595959"/>
                </a:solidFill>
              </a:rPr>
              <a:t>•  Assign each record to its closer seed.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595959"/>
                </a:solidFill>
              </a:rPr>
              <a:t>•  Balance partitions if one side contains fewer than k records.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595959"/>
                </a:solidFill>
              </a:rPr>
              <a:t>•  Recurse until no further valid split is possible.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595959"/>
                </a:solidFill>
              </a:rPr>
              <a:t>•  Generalize each final partition.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463040"/>
            <a:ext cx="2926080" cy="914400"/>
          </a:xfrm>
          <a:prstGeom prst="rect">
            <a:avLst/>
          </a:prstGeom>
          <a:solidFill>
            <a:srgbClr val="EEF2F6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A5F"/>
                </a:solidFill>
              </a:rPr>
              <a:t>partition P</a:t>
            </a:r>
          </a:p>
          <a:p>
            <a:pPr algn="ctr"/>
            <a:r>
              <a:rPr sz="1500" b="0">
                <a:solidFill>
                  <a:srgbClr val="1F3A5F"/>
                </a:solidFill>
              </a:rPr>
              <a:t>|P| ≥ 2k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8138160" y="2377440"/>
            <a:ext cx="640080" cy="82296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875520" y="2377440"/>
            <a:ext cx="640080" cy="82296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858000" y="3200400"/>
            <a:ext cx="237744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595959"/>
                </a:solidFill>
              </a:rPr>
              <a:t>records closer to 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0" y="3200400"/>
            <a:ext cx="237744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595959"/>
                </a:solidFill>
              </a:rPr>
              <a:t>records closer to 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38912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07A1F"/>
                </a:solidFill>
              </a:rPr>
              <a:t>Only QIs drive the split.</a:t>
            </a:r>
          </a:p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07A1F"/>
                </a:solidFill>
              </a:rPr>
              <a:t>The sensitive attribute is ignored.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</a:rPr>
              <a:t>Our change: validate and retry candidate splits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645920" cy="0"/>
          </a:xfrm>
          <a:prstGeom prst="line">
            <a:avLst/>
          </a:prstGeom>
          <a:ln w="38100">
            <a:solidFill>
              <a:srgbClr val="E07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Schwabe, Zylja  |  SPAI 2026, Exercise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06040" cy="201168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48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07A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</a:rPr>
              <a:t>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3774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Generate a normal TDG candidate split.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82112" y="2468880"/>
            <a:ext cx="219456" cy="0"/>
          </a:xfrm>
          <a:prstGeom prst="line">
            <a:avLst/>
          </a:prstGeom>
          <a:ln w="25400">
            <a:solidFill>
              <a:srgbClr val="E07A1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429000" y="1463040"/>
            <a:ext cx="2606040" cy="201168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554480"/>
            <a:ext cx="548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07A1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5740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</a:rPr>
              <a:t>Balance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68880"/>
            <a:ext cx="23774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Apply the original k-anonymity balancing step.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62472" y="2468880"/>
            <a:ext cx="219456" cy="0"/>
          </a:xfrm>
          <a:prstGeom prst="line">
            <a:avLst/>
          </a:prstGeom>
          <a:ln w="25400">
            <a:solidFill>
              <a:srgbClr val="E07A1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309359" y="1463040"/>
            <a:ext cx="2606040" cy="201168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554480"/>
            <a:ext cx="548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07A1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05740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23774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Both children must satisfy k and distinct l-diversity.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42832" y="2468880"/>
            <a:ext cx="219456" cy="0"/>
          </a:xfrm>
          <a:prstGeom prst="line">
            <a:avLst/>
          </a:prstGeom>
          <a:ln w="25400">
            <a:solidFill>
              <a:srgbClr val="E07A1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189719" y="1463040"/>
            <a:ext cx="2606040" cy="201168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0" y="1554480"/>
            <a:ext cx="548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07A1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05740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</a:rPr>
              <a:t>Retry / stop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468880"/>
            <a:ext cx="23774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Try up to 10 candidates; otherwise keep the parent partition.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49039"/>
            <a:ext cx="5486400" cy="109728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840480"/>
            <a:ext cx="5166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</a:rPr>
              <a:t>Initial attempt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</a:rPr>
              <a:t>reject the first invalid split → one giant EC (NCP = 1.000)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749039"/>
            <a:ext cx="5486400" cy="109728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3840480"/>
            <a:ext cx="5166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C8D5A"/>
                </a:solidFill>
              </a:rPr>
              <a:t>Final implementation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</a:rPr>
              <a:t>retry up to 10 candidate splits → much lower information loss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7492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</a:rPr>
              <a:t>•  Sensitive attribute index is recalculated after the framework reorders columns.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</a:rPr>
              <a:t>•  random.seed(42) makes the anonymization results reproducible.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</a:rPr>
              <a:t>Experimental setup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645920" cy="0"/>
          </a:xfrm>
          <a:prstGeom prst="line">
            <a:avLst/>
          </a:prstGeom>
          <a:ln w="38100">
            <a:solidFill>
              <a:srgbClr val="E07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Schwabe, Zylja  |  SPAI 2026, Exercise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852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595959"/>
                </a:solidFill>
              </a:rPr>
              <a:t>•  cahousing: 20,640 records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595959"/>
                </a:solidFill>
              </a:rPr>
              <a:t>•  5 QIs: longitude, latitude, housing_median_age, median_income, median_house_value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595959"/>
                </a:solidFill>
              </a:rPr>
              <a:t>•  Sensitive attribute / classification target: ocean_proximity (3 values)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595959"/>
                </a:solidFill>
              </a:rPr>
              <a:t>•  Configurations: k = 2, 5, 10; l = 2, 3 where applicable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595959"/>
                </a:solidFill>
              </a:rPr>
              <a:t>•  Same predefined train/validation split for every configuration.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595959"/>
                </a:solidFill>
              </a:rPr>
              <a:t>•  Generalized numeric ranges are represented by their midpoint for classification.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463040"/>
            <a:ext cx="4846320" cy="12344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4805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</a:rPr>
              <a:t>Information loss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</a:rPr>
              <a:t>NCP • CAVG • DM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2971800"/>
            <a:ext cx="4846320" cy="12344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2971800"/>
            <a:ext cx="44805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</a:rPr>
              <a:t>Classification utility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</a:rPr>
              <a:t>Random Forest • weighted 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4480560"/>
            <a:ext cx="4846320" cy="12344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0" y="4787438"/>
            <a:ext cx="4480560" cy="6206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1F3A5F"/>
                </a:solidFill>
              </a:rPr>
              <a:t>Privacy validation</a:t>
            </a:r>
          </a:p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595959"/>
                </a:solidFill>
              </a:rPr>
              <a:t>EC size • min. l </a:t>
            </a:r>
            <a:r>
              <a:rPr lang="de-AT" sz="1500" b="0" dirty="0">
                <a:solidFill>
                  <a:srgbClr val="595959"/>
                </a:solidFill>
              </a:rPr>
              <a:t>-</a:t>
            </a:r>
            <a:r>
              <a:rPr sz="1500" b="0" dirty="0">
                <a:solidFill>
                  <a:srgbClr val="595959"/>
                </a:solidFill>
              </a:rPr>
              <a:t> violation counts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</a:rPr>
              <a:t>Privacy is satisfied — but stronger l increases information loss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645920" cy="0"/>
          </a:xfrm>
          <a:prstGeom prst="line">
            <a:avLst/>
          </a:prstGeom>
          <a:ln w="38100">
            <a:solidFill>
              <a:srgbClr val="E07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Schwabe, Zylja  |  SPAI 2026, Exercise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6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498079" cy="377601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0" y="1463040"/>
            <a:ext cx="3291840" cy="1143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1554480"/>
            <a:ext cx="6400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07A1F"/>
                </a:solidFill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1554480"/>
            <a:ext cx="24688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</a:rPr>
              <a:t>k-anonymity violations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</a:rPr>
              <a:t>in every 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2788920"/>
            <a:ext cx="3291840" cy="1143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49640" y="2880360"/>
            <a:ext cx="6400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07A1F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2880360"/>
            <a:ext cx="24688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</a:rPr>
              <a:t>l-diversity violations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</a:rPr>
              <a:t>in every l-diverse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4114800"/>
            <a:ext cx="3291840" cy="1143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4160520"/>
            <a:ext cx="30632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95959"/>
                </a:solidFill>
              </a:rPr>
              <a:t>k=5: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E07A1F"/>
                </a:solidFill>
              </a:rPr>
              <a:t>NCP 0.208 → 0.408 → 0.713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95959"/>
                </a:solidFill>
              </a:rPr>
              <a:t>as l increases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864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</a:rPr>
              <a:t>l has a stronger utility cost than increasing k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</a:rPr>
              <a:t>Classification utility decreases as privacy strengthens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645920" cy="0"/>
          </a:xfrm>
          <a:prstGeom prst="line">
            <a:avLst/>
          </a:prstGeom>
          <a:ln w="38100">
            <a:solidFill>
              <a:srgbClr val="E07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Schwabe, Zylja  |  SPAI 2026, Exercise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498079" cy="368915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0" y="1463040"/>
            <a:ext cx="3291840" cy="1143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0" y="1463040"/>
            <a:ext cx="30175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95959"/>
                </a:solidFill>
              </a:rPr>
              <a:t>Original data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E07A1F"/>
                </a:solidFill>
              </a:rPr>
              <a:t>F1 = 0.954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2788920"/>
            <a:ext cx="3291840" cy="1143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0" y="2788920"/>
            <a:ext cx="30175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95959"/>
                </a:solidFill>
              </a:rPr>
              <a:t>TDG k=5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E07A1F"/>
                </a:solidFill>
              </a:rPr>
              <a:t>F1 = 0.874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4114800"/>
            <a:ext cx="3291840" cy="1143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4114800"/>
            <a:ext cx="30175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95959"/>
                </a:solidFill>
              </a:rPr>
              <a:t>TDG k=5,l=3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E07A1F"/>
                </a:solidFill>
              </a:rPr>
              <a:t>F1 = 0.716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</a:rPr>
              <a:t>Distinct l=3 has the largest classification penalty.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</a:rPr>
              <a:t>Conclusion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645920" cy="0"/>
          </a:xfrm>
          <a:prstGeom prst="line">
            <a:avLst/>
          </a:prstGeom>
          <a:ln w="38100">
            <a:solidFill>
              <a:srgbClr val="E07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Schwabe, Zylja  |  SPAI 2026, Exercise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7665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595959"/>
                </a:solidFill>
              </a:rPr>
              <a:t>•  The TDG extension successfully enforces distinct l-diversity on top of k-anonymity.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595959"/>
                </a:solidFill>
              </a:rPr>
              <a:t>•  Retrying alternative candidate splits is much more useful than rejecting the first invalid split.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595959"/>
                </a:solidFill>
              </a:rPr>
              <a:t>•  Increasing k causes moderate information loss; increasing l has a substantially stronger effect.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595959"/>
                </a:solidFill>
              </a:rPr>
              <a:t>•  The strongest privacy settings also produce the largest drop in Random Forest performance.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595959"/>
                </a:solidFill>
              </a:rPr>
              <a:t>•  The k/l effect is not perfectly monotonic because TDG is heuristic and depends on the resulting partition 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463040"/>
            <a:ext cx="3840480" cy="23774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1600200"/>
            <a:ext cx="342900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A5F"/>
                </a:solidFill>
              </a:rPr>
              <a:t>Main takeaway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</a:rPr>
              <a:t>Stronger diversity guarantees improve privacy, but at a measurable cost in data utility.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</a:rP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1070</Words>
  <Application>Microsoft Office PowerPoint</Application>
  <PresentationFormat>Breitbild</PresentationFormat>
  <Paragraphs>111</Paragraphs>
  <Slides>9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Schwabe, Lara</cp:lastModifiedBy>
  <cp:revision>2</cp:revision>
  <dcterms:created xsi:type="dcterms:W3CDTF">2013-01-27T09:14:16Z</dcterms:created>
  <dcterms:modified xsi:type="dcterms:W3CDTF">2026-10-21T17:51:42Z</dcterms:modified>
  <cp:category/>
</cp:coreProperties>
</file>